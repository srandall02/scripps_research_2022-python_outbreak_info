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0" r:id="rId1"/>
  </p:sldMasterIdLst>
  <p:notesMasterIdLst>
    <p:notesMasterId r:id="rId3"/>
  </p:notesMasterIdLst>
  <p:sldIdLst>
    <p:sldId id="256" r:id="rId2"/>
  </p:sldIdLst>
  <p:sldSz cx="43891200" cy="32918400"/>
  <p:notesSz cx="6858000" cy="9144000"/>
  <p:embeddedFontLst>
    <p:embeddedFont>
      <p:font typeface="Calibri" panose="020F0502020204030204" pitchFamily="34" charset="0"/>
      <p:regular r:id="rId4"/>
      <p:bold r:id="rId5"/>
      <p:italic r:id="rId6"/>
      <p:boldItalic r:id="rId7"/>
    </p:embeddedFont>
    <p:embeddedFont>
      <p:font typeface="Roboto" panose="02000000000000000000" pitchFamily="2"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24"/>
  </p:normalViewPr>
  <p:slideViewPr>
    <p:cSldViewPr snapToGrid="0">
      <p:cViewPr varScale="1">
        <p:scale>
          <a:sx n="22" d="100"/>
          <a:sy n="22" d="100"/>
        </p:scale>
        <p:origin x="1960"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tableStyles" Target="tableStyle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p>
        </p:txBody>
      </p:sp>
      <p:sp>
        <p:nvSpPr>
          <p:cNvPr id="33" name="Google Shape;33;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1"/>
        <p:cNvGrpSpPr/>
        <p:nvPr/>
      </p:nvGrpSpPr>
      <p:grpSpPr>
        <a:xfrm>
          <a:off x="0" y="0"/>
          <a:ext cx="0" cy="0"/>
          <a:chOff x="0" y="0"/>
          <a:chExt cx="0" cy="0"/>
        </a:xfrm>
      </p:grpSpPr>
      <p:sp>
        <p:nvSpPr>
          <p:cNvPr id="12" name="Google Shape;12;p2"/>
          <p:cNvSpPr txBox="1">
            <a:spLocks noGrp="1"/>
          </p:cNvSpPr>
          <p:nvPr>
            <p:ph type="body" idx="1"/>
          </p:nvPr>
        </p:nvSpPr>
        <p:spPr>
          <a:xfrm>
            <a:off x="858740" y="6320291"/>
            <a:ext cx="9784080" cy="1913007"/>
          </a:xfrm>
          <a:prstGeom prst="rect">
            <a:avLst/>
          </a:prstGeom>
          <a:solidFill>
            <a:srgbClr val="49673D"/>
          </a:solidFill>
          <a:ln>
            <a:noFill/>
          </a:ln>
        </p:spPr>
        <p:txBody>
          <a:bodyPr spcFirstLastPara="1" wrap="square" lIns="0" tIns="0" rIns="0" bIns="0" anchor="ctr" anchorCtr="0">
            <a:noAutofit/>
          </a:bodyPr>
          <a:lstStyle>
            <a:lvl1pPr marL="457200" marR="0" lvl="0" indent="-228600" algn="ctr" rtl="0">
              <a:lnSpc>
                <a:spcPct val="90000"/>
              </a:lnSpc>
              <a:spcBef>
                <a:spcPts val="4800"/>
              </a:spcBef>
              <a:spcAft>
                <a:spcPts val="0"/>
              </a:spcAft>
              <a:buClr>
                <a:schemeClr val="lt1"/>
              </a:buClr>
              <a:buSzPts val="4000"/>
              <a:buFont typeface="Arial"/>
              <a:buNone/>
              <a:defRPr sz="4000" b="1" i="0" u="none" strike="noStrike" cap="none">
                <a:solidFill>
                  <a:schemeClr val="lt1"/>
                </a:solidFill>
                <a:latin typeface="Arial"/>
                <a:ea typeface="Arial"/>
                <a:cs typeface="Arial"/>
                <a:sym typeface="Arial"/>
              </a:defRPr>
            </a:lvl1pPr>
            <a:lvl2pPr marL="914400" marR="0" lvl="1" indent="-228600" algn="l" rtl="0">
              <a:lnSpc>
                <a:spcPct val="90000"/>
              </a:lnSpc>
              <a:spcBef>
                <a:spcPts val="2400"/>
              </a:spcBef>
              <a:spcAft>
                <a:spcPts val="0"/>
              </a:spcAft>
              <a:buClr>
                <a:schemeClr val="dk1"/>
              </a:buClr>
              <a:buSzPts val="9600"/>
              <a:buFont typeface="Arial"/>
              <a:buNone/>
              <a:defRPr sz="96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2400"/>
              </a:spcBef>
              <a:spcAft>
                <a:spcPts val="0"/>
              </a:spcAft>
              <a:buClr>
                <a:schemeClr val="dk1"/>
              </a:buClr>
              <a:buSzPts val="8640"/>
              <a:buFont typeface="Arial"/>
              <a:buNone/>
              <a:defRPr sz="864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body" idx="2"/>
          </p:nvPr>
        </p:nvSpPr>
        <p:spPr>
          <a:xfrm>
            <a:off x="858740" y="8287243"/>
            <a:ext cx="9784080" cy="7257556"/>
          </a:xfrm>
          <a:prstGeom prst="rect">
            <a:avLst/>
          </a:prstGeom>
          <a:solidFill>
            <a:srgbClr val="CDD5E9">
              <a:alpha val="66666"/>
            </a:srgbClr>
          </a:solidFill>
          <a:ln>
            <a:noFill/>
          </a:ln>
        </p:spPr>
        <p:txBody>
          <a:bodyPr spcFirstLastPara="1" wrap="square" lIns="457200" tIns="457200" rIns="457200" bIns="457200" anchor="t" anchorCtr="0">
            <a:noAutofit/>
          </a:bodyPr>
          <a:lstStyle>
            <a:lvl1pPr marL="457200" marR="0" lvl="0" indent="-457200" algn="l" rtl="0">
              <a:lnSpc>
                <a:spcPct val="100000"/>
              </a:lnSpc>
              <a:spcBef>
                <a:spcPts val="2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1pPr>
            <a:lvl2pPr marL="914400" marR="0" lvl="1"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2pPr>
            <a:lvl3pPr marL="1371600" marR="0" lvl="2"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3pPr>
            <a:lvl4pPr marL="1828800" marR="0" lvl="3"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4pPr>
            <a:lvl5pPr marL="2286000" marR="0" lvl="4" indent="-406400" algn="l" rtl="0">
              <a:lnSpc>
                <a:spcPct val="90000"/>
              </a:lnSpc>
              <a:spcBef>
                <a:spcPts val="24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title"/>
          </p:nvPr>
        </p:nvSpPr>
        <p:spPr>
          <a:xfrm>
            <a:off x="15548555" y="623004"/>
            <a:ext cx="27547515" cy="80823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body" idx="3"/>
          </p:nvPr>
        </p:nvSpPr>
        <p:spPr>
          <a:xfrm>
            <a:off x="11665226" y="6374236"/>
            <a:ext cx="9784200" cy="1913100"/>
          </a:xfrm>
          <a:prstGeom prst="rect">
            <a:avLst/>
          </a:prstGeom>
          <a:solidFill>
            <a:srgbClr val="49673D"/>
          </a:solidFill>
          <a:ln>
            <a:noFill/>
          </a:ln>
        </p:spPr>
        <p:txBody>
          <a:bodyPr spcFirstLastPara="1" wrap="square" lIns="0" tIns="0" rIns="0" bIns="0" anchor="ctr" anchorCtr="0">
            <a:noAutofit/>
          </a:bodyPr>
          <a:lstStyle>
            <a:lvl1pPr marL="457200" marR="0" lvl="0" indent="-228600" algn="ctr" rtl="0">
              <a:lnSpc>
                <a:spcPct val="90000"/>
              </a:lnSpc>
              <a:spcBef>
                <a:spcPts val="4800"/>
              </a:spcBef>
              <a:spcAft>
                <a:spcPts val="0"/>
              </a:spcAft>
              <a:buClr>
                <a:schemeClr val="lt1"/>
              </a:buClr>
              <a:buSzPts val="4000"/>
              <a:buFont typeface="Arial"/>
              <a:buNone/>
              <a:defRPr sz="4000" b="1" i="0" u="none" strike="noStrike" cap="none">
                <a:solidFill>
                  <a:schemeClr val="lt1"/>
                </a:solidFill>
                <a:latin typeface="Arial"/>
                <a:ea typeface="Arial"/>
                <a:cs typeface="Arial"/>
                <a:sym typeface="Arial"/>
              </a:defRPr>
            </a:lvl1pPr>
            <a:lvl2pPr marL="914400" marR="0" lvl="1" indent="-228600" algn="l" rtl="0">
              <a:lnSpc>
                <a:spcPct val="90000"/>
              </a:lnSpc>
              <a:spcBef>
                <a:spcPts val="2400"/>
              </a:spcBef>
              <a:spcAft>
                <a:spcPts val="0"/>
              </a:spcAft>
              <a:buClr>
                <a:schemeClr val="dk1"/>
              </a:buClr>
              <a:buSzPts val="9600"/>
              <a:buFont typeface="Arial"/>
              <a:buNone/>
              <a:defRPr sz="96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2400"/>
              </a:spcBef>
              <a:spcAft>
                <a:spcPts val="0"/>
              </a:spcAft>
              <a:buClr>
                <a:schemeClr val="dk1"/>
              </a:buClr>
              <a:buSzPts val="8640"/>
              <a:buFont typeface="Arial"/>
              <a:buNone/>
              <a:defRPr sz="864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9pPr>
          </a:lstStyle>
          <a:p>
            <a:endParaRPr/>
          </a:p>
        </p:txBody>
      </p:sp>
      <p:sp>
        <p:nvSpPr>
          <p:cNvPr id="16" name="Google Shape;16;p2"/>
          <p:cNvSpPr txBox="1">
            <a:spLocks noGrp="1"/>
          </p:cNvSpPr>
          <p:nvPr>
            <p:ph type="body" idx="4"/>
          </p:nvPr>
        </p:nvSpPr>
        <p:spPr>
          <a:xfrm>
            <a:off x="11665226" y="8287244"/>
            <a:ext cx="9784080" cy="13260792"/>
          </a:xfrm>
          <a:prstGeom prst="rect">
            <a:avLst/>
          </a:prstGeom>
          <a:solidFill>
            <a:srgbClr val="CDD5E9">
              <a:alpha val="66666"/>
            </a:srgbClr>
          </a:solidFill>
          <a:ln>
            <a:noFill/>
          </a:ln>
        </p:spPr>
        <p:txBody>
          <a:bodyPr spcFirstLastPara="1" wrap="square" lIns="457200" tIns="457200" rIns="457200" bIns="457200" anchor="t" anchorCtr="0">
            <a:noAutofit/>
          </a:bodyPr>
          <a:lstStyle>
            <a:lvl1pPr marL="457200" marR="0" lvl="0" indent="-457200" algn="l" rtl="0">
              <a:lnSpc>
                <a:spcPct val="100000"/>
              </a:lnSpc>
              <a:spcBef>
                <a:spcPts val="2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1pPr>
            <a:lvl2pPr marL="914400" marR="0" lvl="1"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2pPr>
            <a:lvl3pPr marL="1371600" marR="0" lvl="2"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3pPr>
            <a:lvl4pPr marL="1828800" marR="0" lvl="3"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4pPr>
            <a:lvl5pPr marL="2286000" marR="0" lvl="4" indent="-406400" algn="l" rtl="0">
              <a:lnSpc>
                <a:spcPct val="90000"/>
              </a:lnSpc>
              <a:spcBef>
                <a:spcPts val="24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7" name="Google Shape;17;p2"/>
          <p:cNvSpPr txBox="1">
            <a:spLocks noGrp="1"/>
          </p:cNvSpPr>
          <p:nvPr>
            <p:ph type="body" idx="5"/>
          </p:nvPr>
        </p:nvSpPr>
        <p:spPr>
          <a:xfrm>
            <a:off x="22471712" y="6374236"/>
            <a:ext cx="9784080" cy="1913007"/>
          </a:xfrm>
          <a:prstGeom prst="rect">
            <a:avLst/>
          </a:prstGeom>
          <a:solidFill>
            <a:srgbClr val="49673D"/>
          </a:solidFill>
          <a:ln>
            <a:noFill/>
          </a:ln>
        </p:spPr>
        <p:txBody>
          <a:bodyPr spcFirstLastPara="1" wrap="square" lIns="0" tIns="0" rIns="0" bIns="0" anchor="ctr" anchorCtr="0">
            <a:noAutofit/>
          </a:bodyPr>
          <a:lstStyle>
            <a:lvl1pPr marL="457200" marR="0" lvl="0" indent="-228600" algn="ctr" rtl="0">
              <a:lnSpc>
                <a:spcPct val="90000"/>
              </a:lnSpc>
              <a:spcBef>
                <a:spcPts val="4800"/>
              </a:spcBef>
              <a:spcAft>
                <a:spcPts val="0"/>
              </a:spcAft>
              <a:buClr>
                <a:schemeClr val="lt1"/>
              </a:buClr>
              <a:buSzPts val="4000"/>
              <a:buFont typeface="Arial"/>
              <a:buNone/>
              <a:defRPr sz="4000" b="1" i="0" u="none" strike="noStrike" cap="none">
                <a:solidFill>
                  <a:schemeClr val="lt1"/>
                </a:solidFill>
                <a:latin typeface="Arial"/>
                <a:ea typeface="Arial"/>
                <a:cs typeface="Arial"/>
                <a:sym typeface="Arial"/>
              </a:defRPr>
            </a:lvl1pPr>
            <a:lvl2pPr marL="914400" marR="0" lvl="1" indent="-228600" algn="l" rtl="0">
              <a:lnSpc>
                <a:spcPct val="90000"/>
              </a:lnSpc>
              <a:spcBef>
                <a:spcPts val="2400"/>
              </a:spcBef>
              <a:spcAft>
                <a:spcPts val="0"/>
              </a:spcAft>
              <a:buClr>
                <a:schemeClr val="dk1"/>
              </a:buClr>
              <a:buSzPts val="9600"/>
              <a:buFont typeface="Arial"/>
              <a:buNone/>
              <a:defRPr sz="96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2400"/>
              </a:spcBef>
              <a:spcAft>
                <a:spcPts val="0"/>
              </a:spcAft>
              <a:buClr>
                <a:schemeClr val="dk1"/>
              </a:buClr>
              <a:buSzPts val="8640"/>
              <a:buFont typeface="Arial"/>
              <a:buNone/>
              <a:defRPr sz="864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body" idx="6"/>
          </p:nvPr>
        </p:nvSpPr>
        <p:spPr>
          <a:xfrm>
            <a:off x="22471712" y="8287243"/>
            <a:ext cx="9784080" cy="3878254"/>
          </a:xfrm>
          <a:prstGeom prst="rect">
            <a:avLst/>
          </a:prstGeom>
          <a:solidFill>
            <a:srgbClr val="CDD5E9">
              <a:alpha val="66666"/>
            </a:srgbClr>
          </a:solidFill>
          <a:ln>
            <a:noFill/>
          </a:ln>
        </p:spPr>
        <p:txBody>
          <a:bodyPr spcFirstLastPara="1" wrap="square" lIns="457200" tIns="457200" rIns="457200" bIns="457200" anchor="t" anchorCtr="0">
            <a:noAutofit/>
          </a:bodyPr>
          <a:lstStyle>
            <a:lvl1pPr marL="457200" marR="0" lvl="0" indent="-457200" algn="l" rtl="0">
              <a:lnSpc>
                <a:spcPct val="100000"/>
              </a:lnSpc>
              <a:spcBef>
                <a:spcPts val="2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1pPr>
            <a:lvl2pPr marL="914400" marR="0" lvl="1"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2pPr>
            <a:lvl3pPr marL="1371600" marR="0" lvl="2"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3pPr>
            <a:lvl4pPr marL="1828800" marR="0" lvl="3"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4pPr>
            <a:lvl5pPr marL="2286000" marR="0" lvl="4" indent="-406400" algn="l" rtl="0">
              <a:lnSpc>
                <a:spcPct val="90000"/>
              </a:lnSpc>
              <a:spcBef>
                <a:spcPts val="24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body" idx="7"/>
          </p:nvPr>
        </p:nvSpPr>
        <p:spPr>
          <a:xfrm>
            <a:off x="33278198" y="6428181"/>
            <a:ext cx="9784080" cy="1913007"/>
          </a:xfrm>
          <a:prstGeom prst="rect">
            <a:avLst/>
          </a:prstGeom>
          <a:solidFill>
            <a:srgbClr val="49673D"/>
          </a:solidFill>
          <a:ln>
            <a:noFill/>
          </a:ln>
        </p:spPr>
        <p:txBody>
          <a:bodyPr spcFirstLastPara="1" wrap="square" lIns="0" tIns="0" rIns="0" bIns="0" anchor="ctr" anchorCtr="0">
            <a:noAutofit/>
          </a:bodyPr>
          <a:lstStyle>
            <a:lvl1pPr marL="457200" marR="0" lvl="0" indent="-228600" algn="ctr" rtl="0">
              <a:lnSpc>
                <a:spcPct val="90000"/>
              </a:lnSpc>
              <a:spcBef>
                <a:spcPts val="4800"/>
              </a:spcBef>
              <a:spcAft>
                <a:spcPts val="0"/>
              </a:spcAft>
              <a:buClr>
                <a:schemeClr val="lt1"/>
              </a:buClr>
              <a:buSzPts val="4000"/>
              <a:buFont typeface="Arial"/>
              <a:buNone/>
              <a:defRPr sz="4000" b="1" i="0" u="none" strike="noStrike" cap="none">
                <a:solidFill>
                  <a:schemeClr val="lt1"/>
                </a:solidFill>
                <a:latin typeface="Arial"/>
                <a:ea typeface="Arial"/>
                <a:cs typeface="Arial"/>
                <a:sym typeface="Arial"/>
              </a:defRPr>
            </a:lvl1pPr>
            <a:lvl2pPr marL="914400" marR="0" lvl="1" indent="-228600" algn="l" rtl="0">
              <a:lnSpc>
                <a:spcPct val="90000"/>
              </a:lnSpc>
              <a:spcBef>
                <a:spcPts val="2400"/>
              </a:spcBef>
              <a:spcAft>
                <a:spcPts val="0"/>
              </a:spcAft>
              <a:buClr>
                <a:schemeClr val="dk1"/>
              </a:buClr>
              <a:buSzPts val="9600"/>
              <a:buFont typeface="Arial"/>
              <a:buNone/>
              <a:defRPr sz="96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2400"/>
              </a:spcBef>
              <a:spcAft>
                <a:spcPts val="0"/>
              </a:spcAft>
              <a:buClr>
                <a:schemeClr val="dk1"/>
              </a:buClr>
              <a:buSzPts val="8640"/>
              <a:buFont typeface="Arial"/>
              <a:buNone/>
              <a:defRPr sz="864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body" idx="8"/>
          </p:nvPr>
        </p:nvSpPr>
        <p:spPr>
          <a:xfrm>
            <a:off x="33278198" y="8287243"/>
            <a:ext cx="9784080" cy="10744747"/>
          </a:xfrm>
          <a:prstGeom prst="rect">
            <a:avLst/>
          </a:prstGeom>
          <a:solidFill>
            <a:srgbClr val="CDD5E9">
              <a:alpha val="66666"/>
            </a:srgbClr>
          </a:solidFill>
          <a:ln>
            <a:noFill/>
          </a:ln>
        </p:spPr>
        <p:txBody>
          <a:bodyPr spcFirstLastPara="1" wrap="square" lIns="457200" tIns="457200" rIns="457200" bIns="457200" anchor="t" anchorCtr="0">
            <a:noAutofit/>
          </a:bodyPr>
          <a:lstStyle>
            <a:lvl1pPr marL="457200" marR="0" lvl="0" indent="-457200" algn="l" rtl="0">
              <a:lnSpc>
                <a:spcPct val="100000"/>
              </a:lnSpc>
              <a:spcBef>
                <a:spcPts val="2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1pPr>
            <a:lvl2pPr marL="914400" marR="0" lvl="1"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2pPr>
            <a:lvl3pPr marL="1371600" marR="0" lvl="2"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3pPr>
            <a:lvl4pPr marL="1828800" marR="0" lvl="3"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4pPr>
            <a:lvl5pPr marL="2286000" marR="0" lvl="4" indent="-406400" algn="l" rtl="0">
              <a:lnSpc>
                <a:spcPct val="90000"/>
              </a:lnSpc>
              <a:spcBef>
                <a:spcPts val="24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21" name="Google Shape;21;p2"/>
          <p:cNvSpPr txBox="1">
            <a:spLocks noGrp="1"/>
          </p:cNvSpPr>
          <p:nvPr>
            <p:ph type="body" idx="9"/>
          </p:nvPr>
        </p:nvSpPr>
        <p:spPr>
          <a:xfrm>
            <a:off x="858740" y="16173282"/>
            <a:ext cx="9784080" cy="1913007"/>
          </a:xfrm>
          <a:prstGeom prst="rect">
            <a:avLst/>
          </a:prstGeom>
          <a:solidFill>
            <a:srgbClr val="49673D"/>
          </a:solidFill>
          <a:ln>
            <a:noFill/>
          </a:ln>
        </p:spPr>
        <p:txBody>
          <a:bodyPr spcFirstLastPara="1" wrap="square" lIns="0" tIns="0" rIns="0" bIns="0" anchor="ctr" anchorCtr="0">
            <a:noAutofit/>
          </a:bodyPr>
          <a:lstStyle>
            <a:lvl1pPr marL="457200" marR="0" lvl="0" indent="-228600" algn="ctr" rtl="0">
              <a:lnSpc>
                <a:spcPct val="90000"/>
              </a:lnSpc>
              <a:spcBef>
                <a:spcPts val="4800"/>
              </a:spcBef>
              <a:spcAft>
                <a:spcPts val="0"/>
              </a:spcAft>
              <a:buClr>
                <a:schemeClr val="lt1"/>
              </a:buClr>
              <a:buSzPts val="4000"/>
              <a:buFont typeface="Arial"/>
              <a:buNone/>
              <a:defRPr sz="4000" b="1" i="0" u="none" strike="noStrike" cap="none">
                <a:solidFill>
                  <a:schemeClr val="lt1"/>
                </a:solidFill>
                <a:latin typeface="Arial"/>
                <a:ea typeface="Arial"/>
                <a:cs typeface="Arial"/>
                <a:sym typeface="Arial"/>
              </a:defRPr>
            </a:lvl1pPr>
            <a:lvl2pPr marL="914400" marR="0" lvl="1" indent="-228600" algn="l" rtl="0">
              <a:lnSpc>
                <a:spcPct val="90000"/>
              </a:lnSpc>
              <a:spcBef>
                <a:spcPts val="2400"/>
              </a:spcBef>
              <a:spcAft>
                <a:spcPts val="0"/>
              </a:spcAft>
              <a:buClr>
                <a:schemeClr val="dk1"/>
              </a:buClr>
              <a:buSzPts val="9600"/>
              <a:buFont typeface="Arial"/>
              <a:buNone/>
              <a:defRPr sz="96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2400"/>
              </a:spcBef>
              <a:spcAft>
                <a:spcPts val="0"/>
              </a:spcAft>
              <a:buClr>
                <a:schemeClr val="dk1"/>
              </a:buClr>
              <a:buSzPts val="8640"/>
              <a:buFont typeface="Arial"/>
              <a:buNone/>
              <a:defRPr sz="864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9pPr>
          </a:lstStyle>
          <a:p>
            <a:endParaRPr/>
          </a:p>
        </p:txBody>
      </p:sp>
      <p:sp>
        <p:nvSpPr>
          <p:cNvPr id="22" name="Google Shape;22;p2"/>
          <p:cNvSpPr txBox="1">
            <a:spLocks noGrp="1"/>
          </p:cNvSpPr>
          <p:nvPr>
            <p:ph type="body" idx="13"/>
          </p:nvPr>
        </p:nvSpPr>
        <p:spPr>
          <a:xfrm>
            <a:off x="858740" y="18086289"/>
            <a:ext cx="9784080" cy="13838198"/>
          </a:xfrm>
          <a:prstGeom prst="rect">
            <a:avLst/>
          </a:prstGeom>
          <a:solidFill>
            <a:srgbClr val="CDD5E9">
              <a:alpha val="66666"/>
            </a:srgbClr>
          </a:solidFill>
          <a:ln>
            <a:noFill/>
          </a:ln>
        </p:spPr>
        <p:txBody>
          <a:bodyPr spcFirstLastPara="1" wrap="square" lIns="457200" tIns="457200" rIns="457200" bIns="457200" anchor="t" anchorCtr="0">
            <a:noAutofit/>
          </a:bodyPr>
          <a:lstStyle>
            <a:lvl1pPr marL="457200" marR="0" lvl="0" indent="-457200" algn="l" rtl="0">
              <a:lnSpc>
                <a:spcPct val="100000"/>
              </a:lnSpc>
              <a:spcBef>
                <a:spcPts val="2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1pPr>
            <a:lvl2pPr marL="914400" marR="0" lvl="1"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2pPr>
            <a:lvl3pPr marL="1371600" marR="0" lvl="2"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3pPr>
            <a:lvl4pPr marL="1828800" marR="0" lvl="3"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4pPr>
            <a:lvl5pPr marL="2286000" marR="0" lvl="4" indent="-406400" algn="l" rtl="0">
              <a:lnSpc>
                <a:spcPct val="90000"/>
              </a:lnSpc>
              <a:spcBef>
                <a:spcPts val="24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23" name="Google Shape;23;p2"/>
          <p:cNvSpPr txBox="1">
            <a:spLocks noGrp="1"/>
          </p:cNvSpPr>
          <p:nvPr>
            <p:ph type="body" idx="14"/>
          </p:nvPr>
        </p:nvSpPr>
        <p:spPr>
          <a:xfrm>
            <a:off x="11665226" y="22216274"/>
            <a:ext cx="9784080" cy="1913007"/>
          </a:xfrm>
          <a:prstGeom prst="rect">
            <a:avLst/>
          </a:prstGeom>
          <a:solidFill>
            <a:srgbClr val="49673D"/>
          </a:solidFill>
          <a:ln>
            <a:noFill/>
          </a:ln>
        </p:spPr>
        <p:txBody>
          <a:bodyPr spcFirstLastPara="1" wrap="square" lIns="0" tIns="0" rIns="0" bIns="0" anchor="ctr" anchorCtr="0">
            <a:noAutofit/>
          </a:bodyPr>
          <a:lstStyle>
            <a:lvl1pPr marL="457200" marR="0" lvl="0" indent="-228600" algn="ctr" rtl="0">
              <a:lnSpc>
                <a:spcPct val="90000"/>
              </a:lnSpc>
              <a:spcBef>
                <a:spcPts val="4800"/>
              </a:spcBef>
              <a:spcAft>
                <a:spcPts val="0"/>
              </a:spcAft>
              <a:buClr>
                <a:schemeClr val="lt1"/>
              </a:buClr>
              <a:buSzPts val="4000"/>
              <a:buFont typeface="Arial"/>
              <a:buNone/>
              <a:defRPr sz="4000" b="1" i="0" u="none" strike="noStrike" cap="none">
                <a:solidFill>
                  <a:schemeClr val="lt1"/>
                </a:solidFill>
                <a:latin typeface="Arial"/>
                <a:ea typeface="Arial"/>
                <a:cs typeface="Arial"/>
                <a:sym typeface="Arial"/>
              </a:defRPr>
            </a:lvl1pPr>
            <a:lvl2pPr marL="914400" marR="0" lvl="1" indent="-228600" algn="l" rtl="0">
              <a:lnSpc>
                <a:spcPct val="90000"/>
              </a:lnSpc>
              <a:spcBef>
                <a:spcPts val="2400"/>
              </a:spcBef>
              <a:spcAft>
                <a:spcPts val="0"/>
              </a:spcAft>
              <a:buClr>
                <a:schemeClr val="dk1"/>
              </a:buClr>
              <a:buSzPts val="9600"/>
              <a:buFont typeface="Arial"/>
              <a:buNone/>
              <a:defRPr sz="96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2400"/>
              </a:spcBef>
              <a:spcAft>
                <a:spcPts val="0"/>
              </a:spcAft>
              <a:buClr>
                <a:schemeClr val="dk1"/>
              </a:buClr>
              <a:buSzPts val="8640"/>
              <a:buFont typeface="Arial"/>
              <a:buNone/>
              <a:defRPr sz="864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9pPr>
          </a:lstStyle>
          <a:p>
            <a:endParaRPr/>
          </a:p>
        </p:txBody>
      </p:sp>
      <p:sp>
        <p:nvSpPr>
          <p:cNvPr id="24" name="Google Shape;24;p2"/>
          <p:cNvSpPr txBox="1">
            <a:spLocks noGrp="1"/>
          </p:cNvSpPr>
          <p:nvPr>
            <p:ph type="body" idx="15"/>
          </p:nvPr>
        </p:nvSpPr>
        <p:spPr>
          <a:xfrm>
            <a:off x="11665226" y="24129282"/>
            <a:ext cx="9784080" cy="7795206"/>
          </a:xfrm>
          <a:prstGeom prst="rect">
            <a:avLst/>
          </a:prstGeom>
          <a:solidFill>
            <a:srgbClr val="CDD5E9">
              <a:alpha val="66666"/>
            </a:srgbClr>
          </a:solidFill>
          <a:ln>
            <a:noFill/>
          </a:ln>
        </p:spPr>
        <p:txBody>
          <a:bodyPr spcFirstLastPara="1" wrap="square" lIns="457200" tIns="457200" rIns="457200" bIns="457200" anchor="t" anchorCtr="0">
            <a:noAutofit/>
          </a:bodyPr>
          <a:lstStyle>
            <a:lvl1pPr marL="457200" marR="0" lvl="0" indent="-457200" algn="l" rtl="0">
              <a:lnSpc>
                <a:spcPct val="100000"/>
              </a:lnSpc>
              <a:spcBef>
                <a:spcPts val="2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1pPr>
            <a:lvl2pPr marL="914400" marR="0" lvl="1"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2pPr>
            <a:lvl3pPr marL="1371600" marR="0" lvl="2"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3pPr>
            <a:lvl4pPr marL="1828800" marR="0" lvl="3"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4pPr>
            <a:lvl5pPr marL="2286000" marR="0" lvl="4" indent="-406400" algn="l" rtl="0">
              <a:lnSpc>
                <a:spcPct val="90000"/>
              </a:lnSpc>
              <a:spcBef>
                <a:spcPts val="24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25" name="Google Shape;25;p2"/>
          <p:cNvSpPr txBox="1">
            <a:spLocks noGrp="1"/>
          </p:cNvSpPr>
          <p:nvPr>
            <p:ph type="body" idx="16"/>
          </p:nvPr>
        </p:nvSpPr>
        <p:spPr>
          <a:xfrm>
            <a:off x="22471712" y="12658143"/>
            <a:ext cx="9784080" cy="1913007"/>
          </a:xfrm>
          <a:prstGeom prst="rect">
            <a:avLst/>
          </a:prstGeom>
          <a:solidFill>
            <a:srgbClr val="49673D"/>
          </a:solidFill>
          <a:ln>
            <a:noFill/>
          </a:ln>
        </p:spPr>
        <p:txBody>
          <a:bodyPr spcFirstLastPara="1" wrap="square" lIns="0" tIns="0" rIns="0" bIns="0" anchor="ctr" anchorCtr="0">
            <a:noAutofit/>
          </a:bodyPr>
          <a:lstStyle>
            <a:lvl1pPr marL="457200" marR="0" lvl="0" indent="-228600" algn="ctr" rtl="0">
              <a:lnSpc>
                <a:spcPct val="90000"/>
              </a:lnSpc>
              <a:spcBef>
                <a:spcPts val="4800"/>
              </a:spcBef>
              <a:spcAft>
                <a:spcPts val="0"/>
              </a:spcAft>
              <a:buClr>
                <a:schemeClr val="lt1"/>
              </a:buClr>
              <a:buSzPts val="4000"/>
              <a:buFont typeface="Arial"/>
              <a:buNone/>
              <a:defRPr sz="4000" b="1" i="0" u="none" strike="noStrike" cap="none">
                <a:solidFill>
                  <a:schemeClr val="lt1"/>
                </a:solidFill>
                <a:latin typeface="Arial"/>
                <a:ea typeface="Arial"/>
                <a:cs typeface="Arial"/>
                <a:sym typeface="Arial"/>
              </a:defRPr>
            </a:lvl1pPr>
            <a:lvl2pPr marL="914400" marR="0" lvl="1" indent="-228600" algn="l" rtl="0">
              <a:lnSpc>
                <a:spcPct val="90000"/>
              </a:lnSpc>
              <a:spcBef>
                <a:spcPts val="2400"/>
              </a:spcBef>
              <a:spcAft>
                <a:spcPts val="0"/>
              </a:spcAft>
              <a:buClr>
                <a:schemeClr val="dk1"/>
              </a:buClr>
              <a:buSzPts val="9600"/>
              <a:buFont typeface="Arial"/>
              <a:buNone/>
              <a:defRPr sz="96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2400"/>
              </a:spcBef>
              <a:spcAft>
                <a:spcPts val="0"/>
              </a:spcAft>
              <a:buClr>
                <a:schemeClr val="dk1"/>
              </a:buClr>
              <a:buSzPts val="8640"/>
              <a:buFont typeface="Arial"/>
              <a:buNone/>
              <a:defRPr sz="864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9pPr>
          </a:lstStyle>
          <a:p>
            <a:endParaRPr/>
          </a:p>
        </p:txBody>
      </p:sp>
      <p:sp>
        <p:nvSpPr>
          <p:cNvPr id="26" name="Google Shape;26;p2"/>
          <p:cNvSpPr txBox="1">
            <a:spLocks noGrp="1"/>
          </p:cNvSpPr>
          <p:nvPr>
            <p:ph type="body" idx="17"/>
          </p:nvPr>
        </p:nvSpPr>
        <p:spPr>
          <a:xfrm>
            <a:off x="22471712" y="14571150"/>
            <a:ext cx="9784080" cy="4460840"/>
          </a:xfrm>
          <a:prstGeom prst="rect">
            <a:avLst/>
          </a:prstGeom>
          <a:solidFill>
            <a:srgbClr val="CDD5E9">
              <a:alpha val="66666"/>
            </a:srgbClr>
          </a:solidFill>
          <a:ln>
            <a:noFill/>
          </a:ln>
        </p:spPr>
        <p:txBody>
          <a:bodyPr spcFirstLastPara="1" wrap="square" lIns="457200" tIns="457200" rIns="457200" bIns="457200" anchor="t" anchorCtr="0">
            <a:noAutofit/>
          </a:bodyPr>
          <a:lstStyle>
            <a:lvl1pPr marL="457200" marR="0" lvl="0" indent="-457200" algn="l" rtl="0">
              <a:lnSpc>
                <a:spcPct val="100000"/>
              </a:lnSpc>
              <a:spcBef>
                <a:spcPts val="2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1pPr>
            <a:lvl2pPr marL="914400" marR="0" lvl="1"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2pPr>
            <a:lvl3pPr marL="1371600" marR="0" lvl="2"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3pPr>
            <a:lvl4pPr marL="1828800" marR="0" lvl="3"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4pPr>
            <a:lvl5pPr marL="2286000" marR="0" lvl="4" indent="-406400" algn="l" rtl="0">
              <a:lnSpc>
                <a:spcPct val="90000"/>
              </a:lnSpc>
              <a:spcBef>
                <a:spcPts val="24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27" name="Google Shape;27;p2"/>
          <p:cNvSpPr txBox="1">
            <a:spLocks noGrp="1"/>
          </p:cNvSpPr>
          <p:nvPr>
            <p:ph type="body" idx="18"/>
          </p:nvPr>
        </p:nvSpPr>
        <p:spPr>
          <a:xfrm>
            <a:off x="22471712" y="19469312"/>
            <a:ext cx="9784080" cy="1913007"/>
          </a:xfrm>
          <a:prstGeom prst="rect">
            <a:avLst/>
          </a:prstGeom>
          <a:solidFill>
            <a:srgbClr val="49673D"/>
          </a:solidFill>
          <a:ln>
            <a:noFill/>
          </a:ln>
        </p:spPr>
        <p:txBody>
          <a:bodyPr spcFirstLastPara="1" wrap="square" lIns="0" tIns="0" rIns="0" bIns="0" anchor="ctr" anchorCtr="0">
            <a:noAutofit/>
          </a:bodyPr>
          <a:lstStyle>
            <a:lvl1pPr marL="457200" marR="0" lvl="0" indent="-228600" algn="ctr" rtl="0">
              <a:lnSpc>
                <a:spcPct val="90000"/>
              </a:lnSpc>
              <a:spcBef>
                <a:spcPts val="4800"/>
              </a:spcBef>
              <a:spcAft>
                <a:spcPts val="0"/>
              </a:spcAft>
              <a:buClr>
                <a:schemeClr val="lt1"/>
              </a:buClr>
              <a:buSzPts val="4000"/>
              <a:buFont typeface="Arial"/>
              <a:buNone/>
              <a:defRPr sz="4000" b="1" i="0" u="none" strike="noStrike" cap="none">
                <a:solidFill>
                  <a:schemeClr val="lt1"/>
                </a:solidFill>
                <a:latin typeface="Arial"/>
                <a:ea typeface="Arial"/>
                <a:cs typeface="Arial"/>
                <a:sym typeface="Arial"/>
              </a:defRPr>
            </a:lvl1pPr>
            <a:lvl2pPr marL="914400" marR="0" lvl="1" indent="-228600" algn="l" rtl="0">
              <a:lnSpc>
                <a:spcPct val="90000"/>
              </a:lnSpc>
              <a:spcBef>
                <a:spcPts val="2400"/>
              </a:spcBef>
              <a:spcAft>
                <a:spcPts val="0"/>
              </a:spcAft>
              <a:buClr>
                <a:schemeClr val="dk1"/>
              </a:buClr>
              <a:buSzPts val="9600"/>
              <a:buFont typeface="Arial"/>
              <a:buNone/>
              <a:defRPr sz="96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2400"/>
              </a:spcBef>
              <a:spcAft>
                <a:spcPts val="0"/>
              </a:spcAft>
              <a:buClr>
                <a:schemeClr val="dk1"/>
              </a:buClr>
              <a:buSzPts val="8640"/>
              <a:buFont typeface="Arial"/>
              <a:buNone/>
              <a:defRPr sz="864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2400"/>
              </a:spcBef>
              <a:spcAft>
                <a:spcPts val="0"/>
              </a:spcAft>
              <a:buClr>
                <a:schemeClr val="dk1"/>
              </a:buClr>
              <a:buSzPts val="7680"/>
              <a:buFont typeface="Arial"/>
              <a:buNone/>
              <a:defRPr sz="7680" b="1" i="0" u="none" strike="noStrike" cap="none">
                <a:solidFill>
                  <a:schemeClr val="dk1"/>
                </a:solidFill>
                <a:latin typeface="Calibri"/>
                <a:ea typeface="Calibri"/>
                <a:cs typeface="Calibri"/>
                <a:sym typeface="Calibri"/>
              </a:defRPr>
            </a:lvl9pPr>
          </a:lstStyle>
          <a:p>
            <a:endParaRPr/>
          </a:p>
        </p:txBody>
      </p:sp>
      <p:sp>
        <p:nvSpPr>
          <p:cNvPr id="28" name="Google Shape;28;p2"/>
          <p:cNvSpPr txBox="1">
            <a:spLocks noGrp="1"/>
          </p:cNvSpPr>
          <p:nvPr>
            <p:ph type="body" idx="19"/>
          </p:nvPr>
        </p:nvSpPr>
        <p:spPr>
          <a:xfrm>
            <a:off x="22471712" y="21382320"/>
            <a:ext cx="9784080" cy="10542168"/>
          </a:xfrm>
          <a:prstGeom prst="rect">
            <a:avLst/>
          </a:prstGeom>
          <a:solidFill>
            <a:srgbClr val="CDD5E9">
              <a:alpha val="66666"/>
            </a:srgbClr>
          </a:solidFill>
          <a:ln>
            <a:noFill/>
          </a:ln>
        </p:spPr>
        <p:txBody>
          <a:bodyPr spcFirstLastPara="1" wrap="square" lIns="457200" tIns="457200" rIns="457200" bIns="457200" anchor="t" anchorCtr="0">
            <a:noAutofit/>
          </a:bodyPr>
          <a:lstStyle>
            <a:lvl1pPr marL="457200" marR="0" lvl="0" indent="-457200" algn="l" rtl="0">
              <a:lnSpc>
                <a:spcPct val="100000"/>
              </a:lnSpc>
              <a:spcBef>
                <a:spcPts val="2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1pPr>
            <a:lvl2pPr marL="914400" marR="0" lvl="1"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2pPr>
            <a:lvl3pPr marL="1371600" marR="0" lvl="2"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3pPr>
            <a:lvl4pPr marL="1828800" marR="0" lvl="3"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4pPr>
            <a:lvl5pPr marL="2286000" marR="0" lvl="4" indent="-406400" algn="l" rtl="0">
              <a:lnSpc>
                <a:spcPct val="90000"/>
              </a:lnSpc>
              <a:spcBef>
                <a:spcPts val="24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29" name="Google Shape;29;p2"/>
          <p:cNvSpPr txBox="1">
            <a:spLocks noGrp="1"/>
          </p:cNvSpPr>
          <p:nvPr>
            <p:ph type="body" idx="20"/>
          </p:nvPr>
        </p:nvSpPr>
        <p:spPr>
          <a:xfrm>
            <a:off x="33278198" y="19469312"/>
            <a:ext cx="9784080" cy="12455175"/>
          </a:xfrm>
          <a:prstGeom prst="rect">
            <a:avLst/>
          </a:prstGeom>
          <a:solidFill>
            <a:srgbClr val="CDD5E9">
              <a:alpha val="66666"/>
            </a:srgbClr>
          </a:solidFill>
          <a:ln>
            <a:noFill/>
          </a:ln>
        </p:spPr>
        <p:txBody>
          <a:bodyPr spcFirstLastPara="1" wrap="square" lIns="457200" tIns="457200" rIns="457200" bIns="457200" anchor="t" anchorCtr="0">
            <a:noAutofit/>
          </a:bodyPr>
          <a:lstStyle>
            <a:lvl1pPr marL="457200" marR="0" lvl="0" indent="-457200" algn="l" rtl="0">
              <a:lnSpc>
                <a:spcPct val="100000"/>
              </a:lnSpc>
              <a:spcBef>
                <a:spcPts val="2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1pPr>
            <a:lvl2pPr marL="914400" marR="0" lvl="1"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2pPr>
            <a:lvl3pPr marL="1371600" marR="0" lvl="2"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3pPr>
            <a:lvl4pPr marL="1828800" marR="0" lvl="3" indent="-457200" algn="l" rtl="0">
              <a:lnSpc>
                <a:spcPct val="90000"/>
              </a:lnSpc>
              <a:spcBef>
                <a:spcPts val="24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4pPr>
            <a:lvl5pPr marL="2286000" marR="0" lvl="4" indent="-406400" algn="l" rtl="0">
              <a:lnSpc>
                <a:spcPct val="90000"/>
              </a:lnSpc>
              <a:spcBef>
                <a:spcPts val="24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0" y="0"/>
            <a:ext cx="43891200" cy="54864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258" b="0" i="0" u="none" strike="noStrike" cap="none">
              <a:solidFill>
                <a:schemeClr val="lt1"/>
              </a:solidFill>
              <a:latin typeface="Calibri"/>
              <a:ea typeface="Calibri"/>
              <a:cs typeface="Calibri"/>
              <a:sym typeface="Calibri"/>
            </a:endParaRPr>
          </a:p>
        </p:txBody>
      </p:sp>
      <p:pic>
        <p:nvPicPr>
          <p:cNvPr id="7" name="Google Shape;7;p1"/>
          <p:cNvPicPr preferRelativeResize="0"/>
          <p:nvPr/>
        </p:nvPicPr>
        <p:blipFill rotWithShape="1">
          <a:blip r:embed="rId4">
            <a:alphaModFix/>
          </a:blip>
          <a:srcRect/>
          <a:stretch/>
        </p:blipFill>
        <p:spPr>
          <a:xfrm>
            <a:off x="0" y="5218339"/>
            <a:ext cx="43891199" cy="268061"/>
          </a:xfrm>
          <a:prstGeom prst="rect">
            <a:avLst/>
          </a:prstGeom>
          <a:noFill/>
          <a:ln>
            <a:noFill/>
          </a:ln>
        </p:spPr>
      </p:pic>
      <p:pic>
        <p:nvPicPr>
          <p:cNvPr id="8" name="Google Shape;8;p1"/>
          <p:cNvPicPr preferRelativeResize="0"/>
          <p:nvPr/>
        </p:nvPicPr>
        <p:blipFill rotWithShape="1">
          <a:blip r:embed="rId5">
            <a:alphaModFix/>
          </a:blip>
          <a:srcRect/>
          <a:stretch/>
        </p:blipFill>
        <p:spPr>
          <a:xfrm>
            <a:off x="683591" y="623004"/>
            <a:ext cx="12396305" cy="2499255"/>
          </a:xfrm>
          <a:prstGeom prst="rect">
            <a:avLst/>
          </a:prstGeom>
          <a:noFill/>
          <a:ln>
            <a:noFill/>
          </a:ln>
        </p:spPr>
      </p:pic>
      <p:sp>
        <p:nvSpPr>
          <p:cNvPr id="9" name="Google Shape;9;p1"/>
          <p:cNvSpPr txBox="1">
            <a:spLocks noGrp="1"/>
          </p:cNvSpPr>
          <p:nvPr>
            <p:ph type="title"/>
          </p:nvPr>
        </p:nvSpPr>
        <p:spPr>
          <a:xfrm>
            <a:off x="15548555" y="623004"/>
            <a:ext cx="27547515" cy="808231"/>
          </a:xfrm>
          <a:prstGeom prst="rect">
            <a:avLst/>
          </a:prstGeom>
          <a:noFill/>
          <a:ln>
            <a:noFill/>
          </a:ln>
        </p:spPr>
        <p:txBody>
          <a:bodyPr spcFirstLastPara="1" wrap="square" lIns="0" tIns="0" rIns="0" bIns="0" anchor="t" anchorCtr="0">
            <a:normAutofit/>
          </a:bodyPr>
          <a:lstStyle>
            <a:lvl1pPr marR="0" lvl="0" algn="l" rtl="0">
              <a:lnSpc>
                <a:spcPct val="90000"/>
              </a:lnSpc>
              <a:spcBef>
                <a:spcPts val="0"/>
              </a:spcBef>
              <a:spcAft>
                <a:spcPts val="0"/>
              </a:spcAft>
              <a:buClr>
                <a:schemeClr val="lt1"/>
              </a:buClr>
              <a:buSzPts val="6600"/>
              <a:buFont typeface="Arial"/>
              <a:buNone/>
              <a:defRPr sz="66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1"/>
          <p:cNvSpPr txBox="1"/>
          <p:nvPr/>
        </p:nvSpPr>
        <p:spPr>
          <a:xfrm>
            <a:off x="15548555" y="1740261"/>
            <a:ext cx="27547515" cy="3149791"/>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A9BD58"/>
              </a:buClr>
              <a:buSzPts val="3600"/>
              <a:buFont typeface="Arial"/>
              <a:buNone/>
            </a:pPr>
            <a:r>
              <a:rPr lang="en-US" sz="3600" b="0" i="0" u="none" strike="noStrike" cap="none">
                <a:solidFill>
                  <a:srgbClr val="A9BD58"/>
                </a:solidFill>
                <a:latin typeface="Arial"/>
                <a:ea typeface="Arial"/>
                <a:cs typeface="Arial"/>
                <a:sym typeface="Arial"/>
              </a:rPr>
              <a:t>Lorem ipsum dolor sit amet, consectetur adipiscing elit. Mauris arcu velit, tincidunt quis sagittis a, aliquam sit amet tellus. Curabitur a est ultrices, cursus lectus nec, cursus quam. Vestibulum quis facilisis nulla. Proin convallis dui et quam lacinia, ut blandit tellus vestibulum. Quisque feugiat cursus tortor at efficitur. Praesent vel magna vitae mauris vestibulum hendrerit et blandit massa. Nullam eu facilisis sem. Fusce at ultricies neque, nec sollicitudin nisi. Nullam molestie tincidunt magna, nec ultricies ex consectetur a. Donec hendrerit ligula non massa commodo, at convallis erat pretium. Suspendisse tincidunt luctus elit. Vivamus blandit ante varius nulla rhoncus facilisis. Nullam non enim sapien. Ut ultrices neque et nulla viverra malesuada.</a:t>
            </a: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jp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jp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1.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4"/>
        <p:cNvGrpSpPr/>
        <p:nvPr/>
      </p:nvGrpSpPr>
      <p:grpSpPr>
        <a:xfrm>
          <a:off x="0" y="0"/>
          <a:ext cx="0" cy="0"/>
          <a:chOff x="0" y="0"/>
          <a:chExt cx="0" cy="0"/>
        </a:xfrm>
      </p:grpSpPr>
      <p:sp>
        <p:nvSpPr>
          <p:cNvPr id="35" name="Google Shape;35;p4"/>
          <p:cNvSpPr/>
          <p:nvPr/>
        </p:nvSpPr>
        <p:spPr>
          <a:xfrm>
            <a:off x="0" y="0"/>
            <a:ext cx="43891200" cy="54864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250" b="0" i="0" u="none" strike="noStrike" cap="none">
              <a:solidFill>
                <a:schemeClr val="lt1"/>
              </a:solidFill>
              <a:latin typeface="Calibri"/>
              <a:ea typeface="Calibri"/>
              <a:cs typeface="Calibri"/>
              <a:sym typeface="Calibri"/>
            </a:endParaRPr>
          </a:p>
        </p:txBody>
      </p:sp>
      <p:pic>
        <p:nvPicPr>
          <p:cNvPr id="36" name="Google Shape;36;p4"/>
          <p:cNvPicPr preferRelativeResize="0"/>
          <p:nvPr/>
        </p:nvPicPr>
        <p:blipFill rotWithShape="1">
          <a:blip r:embed="rId4">
            <a:alphaModFix/>
          </a:blip>
          <a:srcRect/>
          <a:stretch/>
        </p:blipFill>
        <p:spPr>
          <a:xfrm>
            <a:off x="0" y="5218339"/>
            <a:ext cx="43891199" cy="268061"/>
          </a:xfrm>
          <a:prstGeom prst="rect">
            <a:avLst/>
          </a:prstGeom>
          <a:noFill/>
          <a:ln>
            <a:noFill/>
          </a:ln>
        </p:spPr>
      </p:pic>
      <p:sp>
        <p:nvSpPr>
          <p:cNvPr id="37" name="Google Shape;37;p4"/>
          <p:cNvSpPr txBox="1">
            <a:spLocks noGrp="1"/>
          </p:cNvSpPr>
          <p:nvPr>
            <p:ph type="title"/>
          </p:nvPr>
        </p:nvSpPr>
        <p:spPr>
          <a:xfrm>
            <a:off x="26577041" y="1161389"/>
            <a:ext cx="15433500" cy="3653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US" dirty="0"/>
              <a:t>Implementing </a:t>
            </a:r>
            <a:r>
              <a:rPr lang="en-US" dirty="0" err="1"/>
              <a:t>Outbreak.info</a:t>
            </a:r>
            <a:r>
              <a:rPr lang="en-US" dirty="0"/>
              <a:t> API in Python will Expand Access to SARS-CoV-2 Data and Allow for Flexible Data Analysis</a:t>
            </a:r>
            <a:endParaRPr dirty="0"/>
          </a:p>
        </p:txBody>
      </p:sp>
      <p:sp>
        <p:nvSpPr>
          <p:cNvPr id="38" name="Google Shape;38;p4"/>
          <p:cNvSpPr txBox="1">
            <a:spLocks noGrp="1"/>
          </p:cNvSpPr>
          <p:nvPr>
            <p:ph type="body" idx="3"/>
          </p:nvPr>
        </p:nvSpPr>
        <p:spPr>
          <a:xfrm>
            <a:off x="1037550" y="6573875"/>
            <a:ext cx="9986700" cy="1528700"/>
          </a:xfrm>
          <a:prstGeom prst="rect">
            <a:avLst/>
          </a:prstGeom>
          <a:solidFill>
            <a:srgbClr val="DCA10D"/>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Clr>
                <a:schemeClr val="lt1"/>
              </a:buClr>
              <a:buSzPts val="4000"/>
              <a:buNone/>
            </a:pPr>
            <a:r>
              <a:rPr lang="en-US" sz="4200" dirty="0"/>
              <a:t>Introduction</a:t>
            </a:r>
            <a:endParaRPr sz="4200" dirty="0"/>
          </a:p>
        </p:txBody>
      </p:sp>
      <p:sp>
        <p:nvSpPr>
          <p:cNvPr id="39" name="Google Shape;39;p4"/>
          <p:cNvSpPr txBox="1">
            <a:spLocks noGrp="1"/>
          </p:cNvSpPr>
          <p:nvPr>
            <p:ph type="body" idx="4"/>
          </p:nvPr>
        </p:nvSpPr>
        <p:spPr>
          <a:xfrm>
            <a:off x="11964200" y="17579606"/>
            <a:ext cx="9986700" cy="3067800"/>
          </a:xfrm>
          <a:prstGeom prst="rect">
            <a:avLst/>
          </a:prstGeom>
          <a:solidFill>
            <a:srgbClr val="A9BD58"/>
          </a:solidFill>
          <a:ln w="19050" cap="flat" cmpd="sng">
            <a:solidFill>
              <a:schemeClr val="dk1"/>
            </a:solidFill>
            <a:prstDash val="solid"/>
            <a:round/>
            <a:headEnd type="none" w="sm" len="sm"/>
            <a:tailEnd type="none" w="sm" len="sm"/>
          </a:ln>
        </p:spPr>
        <p:txBody>
          <a:bodyPr spcFirstLastPara="1" wrap="square" lIns="457200" tIns="457200" rIns="457200" bIns="4572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2400" dirty="0">
                <a:latin typeface="Roboto"/>
                <a:ea typeface="Roboto"/>
                <a:cs typeface="Roboto"/>
                <a:sym typeface="Roboto"/>
              </a:rPr>
              <a:t>     We coded a series of functions in Python that are capable of drawing raw data from the </a:t>
            </a:r>
            <a:r>
              <a:rPr lang="en-US" sz="2400" dirty="0" err="1">
                <a:latin typeface="Roboto"/>
                <a:ea typeface="Roboto"/>
                <a:cs typeface="Roboto"/>
                <a:sym typeface="Roboto"/>
              </a:rPr>
              <a:t>Outbreak.info</a:t>
            </a:r>
            <a:r>
              <a:rPr lang="en-US" sz="2400" dirty="0">
                <a:latin typeface="Roboto"/>
                <a:ea typeface="Roboto"/>
                <a:cs typeface="Roboto"/>
                <a:sym typeface="Roboto"/>
              </a:rPr>
              <a:t> API and formulating it into an easy-to-read table data frame. This was done by hitting specific endpoints and passing parameters that allow for both simple and complex q</a:t>
            </a:r>
            <a:r>
              <a:rPr lang="en-US" sz="2400" dirty="0"/>
              <a:t>ueries.</a:t>
            </a:r>
            <a:endParaRPr sz="2400" dirty="0"/>
          </a:p>
        </p:txBody>
      </p:sp>
      <p:sp>
        <p:nvSpPr>
          <p:cNvPr id="40" name="Google Shape;40;p4"/>
          <p:cNvSpPr txBox="1">
            <a:spLocks noGrp="1"/>
          </p:cNvSpPr>
          <p:nvPr>
            <p:ph type="body" idx="5"/>
          </p:nvPr>
        </p:nvSpPr>
        <p:spPr>
          <a:xfrm>
            <a:off x="11992525" y="21589486"/>
            <a:ext cx="9986700" cy="1674600"/>
          </a:xfrm>
          <a:prstGeom prst="rect">
            <a:avLst/>
          </a:prstGeom>
          <a:solidFill>
            <a:srgbClr val="DCA10D"/>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Clr>
                <a:schemeClr val="lt1"/>
              </a:buClr>
              <a:buSzPts val="4000"/>
              <a:buNone/>
            </a:pPr>
            <a:r>
              <a:rPr lang="en-US" sz="4200"/>
              <a:t>My Project</a:t>
            </a:r>
            <a:endParaRPr sz="4200"/>
          </a:p>
        </p:txBody>
      </p:sp>
      <p:sp>
        <p:nvSpPr>
          <p:cNvPr id="41" name="Google Shape;41;p4"/>
          <p:cNvSpPr txBox="1">
            <a:spLocks noGrp="1"/>
          </p:cNvSpPr>
          <p:nvPr>
            <p:ph type="body" idx="6"/>
          </p:nvPr>
        </p:nvSpPr>
        <p:spPr>
          <a:xfrm>
            <a:off x="11964200" y="23264086"/>
            <a:ext cx="9986700" cy="6451602"/>
          </a:xfrm>
          <a:prstGeom prst="rect">
            <a:avLst/>
          </a:prstGeom>
          <a:solidFill>
            <a:srgbClr val="A9BD58"/>
          </a:solidFill>
          <a:ln w="19050" cap="flat" cmpd="sng">
            <a:solidFill>
              <a:schemeClr val="dk1"/>
            </a:solidFill>
            <a:prstDash val="solid"/>
            <a:round/>
            <a:headEnd type="none" w="sm" len="sm"/>
            <a:tailEnd type="none" w="sm" len="sm"/>
          </a:ln>
        </p:spPr>
        <p:txBody>
          <a:bodyPr spcFirstLastPara="1" wrap="square" lIns="457200" tIns="457200" rIns="457200" bIns="4572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2400" dirty="0">
                <a:latin typeface="Roboto"/>
                <a:ea typeface="Roboto"/>
                <a:cs typeface="Roboto"/>
                <a:sym typeface="Roboto"/>
              </a:rPr>
              <a:t>     I implemented the ability to access </a:t>
            </a:r>
            <a:r>
              <a:rPr lang="en-US" sz="2400" dirty="0" err="1">
                <a:latin typeface="Roboto"/>
                <a:ea typeface="Roboto"/>
                <a:cs typeface="Roboto"/>
                <a:sym typeface="Roboto"/>
              </a:rPr>
              <a:t>Outbreak.info</a:t>
            </a:r>
            <a:r>
              <a:rPr lang="en-US" sz="2400" dirty="0">
                <a:latin typeface="Roboto"/>
                <a:ea typeface="Roboto"/>
                <a:cs typeface="Roboto"/>
                <a:sym typeface="Roboto"/>
              </a:rPr>
              <a:t> API endpoints using Python, enabling users to make specific API queries for raw SARS-COV-2 data.</a:t>
            </a:r>
            <a:endParaRPr sz="2400" dirty="0">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2400" dirty="0">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2400" b="1" dirty="0">
                <a:latin typeface="Roboto"/>
                <a:ea typeface="Roboto"/>
                <a:cs typeface="Roboto"/>
                <a:sym typeface="Roboto"/>
              </a:rPr>
              <a:t>What I Did:</a:t>
            </a:r>
            <a:endParaRPr sz="2400" b="1" dirty="0">
              <a:latin typeface="Roboto"/>
              <a:ea typeface="Roboto"/>
              <a:cs typeface="Roboto"/>
              <a:sym typeface="Roboto"/>
            </a:endParaRPr>
          </a:p>
          <a:p>
            <a:pPr marL="457200" lvl="0" indent="-400050" algn="l" rtl="0">
              <a:lnSpc>
                <a:spcPct val="115000"/>
              </a:lnSpc>
              <a:spcBef>
                <a:spcPts val="0"/>
              </a:spcBef>
              <a:spcAft>
                <a:spcPts val="0"/>
              </a:spcAft>
              <a:buSzPts val="2700"/>
              <a:buFont typeface="Arial" panose="020B0604020202020204" pitchFamily="34" charset="0"/>
              <a:buChar char="•"/>
            </a:pPr>
            <a:r>
              <a:rPr lang="en-US" sz="2400" dirty="0">
                <a:latin typeface="Roboto"/>
                <a:ea typeface="Roboto"/>
                <a:cs typeface="Roboto"/>
                <a:sym typeface="Roboto"/>
              </a:rPr>
              <a:t>Developed appropriate tests to check data and input validity</a:t>
            </a:r>
            <a:endParaRPr sz="2400" dirty="0">
              <a:latin typeface="Roboto"/>
              <a:ea typeface="Roboto"/>
              <a:cs typeface="Roboto"/>
              <a:sym typeface="Roboto"/>
            </a:endParaRPr>
          </a:p>
          <a:p>
            <a:pPr marL="457200" lvl="0" indent="-400050" algn="l" rtl="0">
              <a:lnSpc>
                <a:spcPct val="115000"/>
              </a:lnSpc>
              <a:spcBef>
                <a:spcPts val="0"/>
              </a:spcBef>
              <a:spcAft>
                <a:spcPts val="0"/>
              </a:spcAft>
              <a:buSzPts val="2700"/>
              <a:buFont typeface="Arial" panose="020B0604020202020204" pitchFamily="34" charset="0"/>
              <a:buChar char="•"/>
            </a:pPr>
            <a:r>
              <a:rPr lang="en-US" sz="2400" dirty="0">
                <a:latin typeface="Roboto"/>
                <a:ea typeface="Roboto"/>
                <a:cs typeface="Roboto"/>
                <a:sym typeface="Roboto"/>
              </a:rPr>
              <a:t>Implemented ‘genomic’ API endpoint function to collect viral genomic data on SARS-COV-2 variants, mutations, prevalence and frequency</a:t>
            </a:r>
            <a:endParaRPr sz="2400" dirty="0">
              <a:latin typeface="Roboto"/>
              <a:ea typeface="Roboto"/>
              <a:cs typeface="Roboto"/>
              <a:sym typeface="Roboto"/>
            </a:endParaRPr>
          </a:p>
          <a:p>
            <a:pPr marL="457200" lvl="0" indent="-400050" algn="l" rtl="0">
              <a:lnSpc>
                <a:spcPct val="115000"/>
              </a:lnSpc>
              <a:spcBef>
                <a:spcPts val="0"/>
              </a:spcBef>
              <a:spcAft>
                <a:spcPts val="0"/>
              </a:spcAft>
              <a:buSzPts val="2700"/>
              <a:buFont typeface="Arial" panose="020B0604020202020204" pitchFamily="34" charset="0"/>
              <a:buChar char="•"/>
            </a:pPr>
            <a:r>
              <a:rPr lang="en-US" sz="2400" dirty="0">
                <a:latin typeface="Roboto"/>
                <a:ea typeface="Roboto"/>
                <a:cs typeface="Roboto"/>
                <a:sym typeface="Roboto"/>
              </a:rPr>
              <a:t>Designed function to hit ‘Covid19’ endpoint to collect epidemiological data related to number of SARS-COV-2 cases in a specified region</a:t>
            </a:r>
            <a:endParaRPr sz="2400" dirty="0">
              <a:latin typeface="Roboto"/>
              <a:ea typeface="Roboto"/>
              <a:cs typeface="Roboto"/>
              <a:sym typeface="Roboto"/>
            </a:endParaRPr>
          </a:p>
        </p:txBody>
      </p:sp>
      <p:sp>
        <p:nvSpPr>
          <p:cNvPr id="42" name="Google Shape;42;p4"/>
          <p:cNvSpPr txBox="1">
            <a:spLocks noGrp="1"/>
          </p:cNvSpPr>
          <p:nvPr>
            <p:ph type="body" idx="7"/>
          </p:nvPr>
        </p:nvSpPr>
        <p:spPr>
          <a:xfrm>
            <a:off x="33760850" y="6573875"/>
            <a:ext cx="9190800" cy="1674600"/>
          </a:xfrm>
          <a:prstGeom prst="rect">
            <a:avLst/>
          </a:prstGeom>
          <a:solidFill>
            <a:srgbClr val="DCA10D"/>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Clr>
                <a:schemeClr val="lt1"/>
              </a:buClr>
              <a:buSzPts val="4000"/>
              <a:buNone/>
            </a:pPr>
            <a:r>
              <a:rPr lang="en-US" sz="4200" dirty="0"/>
              <a:t>Conclusion</a:t>
            </a:r>
            <a:endParaRPr sz="4200" dirty="0"/>
          </a:p>
        </p:txBody>
      </p:sp>
      <p:sp>
        <p:nvSpPr>
          <p:cNvPr id="43" name="Google Shape;43;p4"/>
          <p:cNvSpPr txBox="1">
            <a:spLocks noGrp="1"/>
          </p:cNvSpPr>
          <p:nvPr>
            <p:ph type="body" idx="8"/>
          </p:nvPr>
        </p:nvSpPr>
        <p:spPr>
          <a:xfrm>
            <a:off x="11964200" y="8102650"/>
            <a:ext cx="9986700" cy="7035234"/>
          </a:xfrm>
          <a:prstGeom prst="rect">
            <a:avLst/>
          </a:prstGeom>
          <a:solidFill>
            <a:srgbClr val="A9BD58"/>
          </a:solidFill>
          <a:ln w="19050" cap="flat" cmpd="sng">
            <a:solidFill>
              <a:schemeClr val="dk1"/>
            </a:solidFill>
            <a:prstDash val="solid"/>
            <a:round/>
            <a:headEnd type="none" w="sm" len="sm"/>
            <a:tailEnd type="none" w="sm" len="sm"/>
          </a:ln>
        </p:spPr>
        <p:txBody>
          <a:bodyPr spcFirstLastPara="1" wrap="square" lIns="457200" tIns="457200" rIns="457200" bIns="457200" anchor="t" anchorCtr="0">
            <a:noAutofit/>
          </a:bodyPr>
          <a:lstStyle/>
          <a:p>
            <a:pPr marL="0" lvl="0" indent="0" algn="l" rtl="0">
              <a:lnSpc>
                <a:spcPct val="115000"/>
              </a:lnSpc>
              <a:spcBef>
                <a:spcPts val="0"/>
              </a:spcBef>
              <a:spcAft>
                <a:spcPts val="0"/>
              </a:spcAft>
              <a:buClr>
                <a:schemeClr val="dk1"/>
              </a:buClr>
              <a:buSzPts val="1100"/>
              <a:buFont typeface="Arial"/>
              <a:buNone/>
            </a:pPr>
            <a:endParaRPr lang="en-US" sz="2600" b="1" dirty="0">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2700" b="1" dirty="0">
                <a:latin typeface="Roboto"/>
                <a:ea typeface="Roboto"/>
                <a:cs typeface="Roboto"/>
                <a:sym typeface="Roboto"/>
              </a:rPr>
              <a:t>  New Python </a:t>
            </a:r>
            <a:r>
              <a:rPr lang="en-US" sz="2700" b="1" dirty="0" err="1">
                <a:latin typeface="Roboto"/>
                <a:ea typeface="Roboto"/>
                <a:cs typeface="Roboto"/>
                <a:sym typeface="Roboto"/>
              </a:rPr>
              <a:t>Outbreak.info</a:t>
            </a:r>
            <a:r>
              <a:rPr lang="en-US" sz="2700" b="1" dirty="0">
                <a:latin typeface="Roboto"/>
                <a:ea typeface="Roboto"/>
                <a:cs typeface="Roboto"/>
                <a:sym typeface="Roboto"/>
              </a:rPr>
              <a:t> Package</a:t>
            </a:r>
          </a:p>
          <a:p>
            <a:pPr marL="0" lvl="0" indent="0" algn="l" rtl="0">
              <a:lnSpc>
                <a:spcPct val="115000"/>
              </a:lnSpc>
              <a:spcBef>
                <a:spcPts val="0"/>
              </a:spcBef>
              <a:spcAft>
                <a:spcPts val="0"/>
              </a:spcAft>
              <a:buClr>
                <a:schemeClr val="dk1"/>
              </a:buClr>
              <a:buSzPts val="1100"/>
              <a:buFont typeface="Arial"/>
              <a:buNone/>
            </a:pPr>
            <a:endParaRPr sz="2600" b="1" dirty="0"/>
          </a:p>
          <a:p>
            <a:pPr marL="0" lvl="0" indent="457200" algn="l" rtl="0">
              <a:lnSpc>
                <a:spcPct val="115000"/>
              </a:lnSpc>
              <a:spcBef>
                <a:spcPts val="0"/>
              </a:spcBef>
              <a:spcAft>
                <a:spcPts val="0"/>
              </a:spcAft>
              <a:buClr>
                <a:schemeClr val="dk1"/>
              </a:buClr>
              <a:buSzPts val="1100"/>
              <a:buFont typeface="Arial"/>
              <a:buNone/>
            </a:pPr>
            <a:endParaRPr lang="en-US" sz="2500" dirty="0">
              <a:latin typeface="Roboto"/>
              <a:ea typeface="Roboto"/>
              <a:cs typeface="Roboto"/>
              <a:sym typeface="Roboto"/>
            </a:endParaRPr>
          </a:p>
          <a:p>
            <a:pPr marL="0" lvl="0" indent="457200" algn="l" rtl="0">
              <a:lnSpc>
                <a:spcPct val="115000"/>
              </a:lnSpc>
              <a:spcBef>
                <a:spcPts val="0"/>
              </a:spcBef>
              <a:spcAft>
                <a:spcPts val="0"/>
              </a:spcAft>
              <a:buClr>
                <a:schemeClr val="dk1"/>
              </a:buClr>
              <a:buSzPts val="1100"/>
              <a:buFont typeface="Arial"/>
              <a:buNone/>
            </a:pPr>
            <a:r>
              <a:rPr lang="en-US" sz="2500" dirty="0">
                <a:latin typeface="Roboto"/>
                <a:ea typeface="Roboto"/>
                <a:cs typeface="Roboto"/>
                <a:sym typeface="Roboto"/>
              </a:rPr>
              <a:t>Our goal is to give SARS-COV-2 data access out to as many people as possible. Currently, the data processing package is only available in the R programming language. Expanding our toolset to become more accessible to people from different coding backgrounds is the ideal. Python is an industry-wide used language that is highly useful in data manipulation and analysis. A Python package utilizing the </a:t>
            </a:r>
            <a:r>
              <a:rPr lang="en-US" sz="2500" dirty="0" err="1">
                <a:latin typeface="Roboto"/>
                <a:ea typeface="Roboto"/>
                <a:cs typeface="Roboto"/>
                <a:sym typeface="Roboto"/>
              </a:rPr>
              <a:t>Outbreak.info</a:t>
            </a:r>
            <a:r>
              <a:rPr lang="en-US" sz="2500" dirty="0">
                <a:latin typeface="Roboto"/>
                <a:ea typeface="Roboto"/>
                <a:cs typeface="Roboto"/>
                <a:sym typeface="Roboto"/>
              </a:rPr>
              <a:t> API will broaden user scope to those who are familiar with either R or Python.</a:t>
            </a:r>
            <a:endParaRPr sz="2500" dirty="0">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2400" dirty="0">
              <a:latin typeface="Roboto"/>
              <a:ea typeface="Roboto"/>
              <a:cs typeface="Roboto"/>
              <a:sym typeface="Roboto"/>
            </a:endParaRPr>
          </a:p>
          <a:p>
            <a:pPr marL="0" lvl="0" indent="457200" algn="l" rtl="0">
              <a:lnSpc>
                <a:spcPct val="115000"/>
              </a:lnSpc>
              <a:spcBef>
                <a:spcPts val="0"/>
              </a:spcBef>
              <a:spcAft>
                <a:spcPts val="0"/>
              </a:spcAft>
              <a:buClr>
                <a:schemeClr val="dk1"/>
              </a:buClr>
              <a:buSzPts val="1100"/>
              <a:buFont typeface="Arial"/>
              <a:buNone/>
            </a:pPr>
            <a:endParaRPr sz="2400" dirty="0">
              <a:latin typeface="Roboto"/>
              <a:ea typeface="Roboto"/>
              <a:cs typeface="Roboto"/>
              <a:sym typeface="Roboto"/>
            </a:endParaRPr>
          </a:p>
          <a:p>
            <a:pPr marL="0" lvl="0" indent="457200" algn="l" rtl="0">
              <a:lnSpc>
                <a:spcPct val="115000"/>
              </a:lnSpc>
              <a:spcBef>
                <a:spcPts val="0"/>
              </a:spcBef>
              <a:spcAft>
                <a:spcPts val="0"/>
              </a:spcAft>
              <a:buClr>
                <a:schemeClr val="dk1"/>
              </a:buClr>
              <a:buSzPts val="1100"/>
              <a:buFont typeface="Arial"/>
              <a:buNone/>
            </a:pPr>
            <a:endParaRPr sz="2300" dirty="0"/>
          </a:p>
          <a:p>
            <a:pPr marL="0" lvl="0" indent="0" algn="l" rtl="0">
              <a:lnSpc>
                <a:spcPct val="115000"/>
              </a:lnSpc>
              <a:spcBef>
                <a:spcPts val="0"/>
              </a:spcBef>
              <a:spcAft>
                <a:spcPts val="0"/>
              </a:spcAft>
              <a:buClr>
                <a:schemeClr val="dk1"/>
              </a:buClr>
              <a:buSzPts val="1100"/>
              <a:buFont typeface="Arial"/>
              <a:buNone/>
            </a:pPr>
            <a:endParaRPr sz="2300" b="1" dirty="0"/>
          </a:p>
          <a:p>
            <a:pPr marL="0" lvl="0" indent="0" algn="l" rtl="0">
              <a:lnSpc>
                <a:spcPct val="115000"/>
              </a:lnSpc>
              <a:spcBef>
                <a:spcPts val="0"/>
              </a:spcBef>
              <a:spcAft>
                <a:spcPts val="0"/>
              </a:spcAft>
              <a:buClr>
                <a:schemeClr val="dk1"/>
              </a:buClr>
              <a:buSzPts val="1100"/>
              <a:buFont typeface="Arial"/>
              <a:buNone/>
            </a:pPr>
            <a:endParaRPr sz="2400" b="1" dirty="0"/>
          </a:p>
          <a:p>
            <a:pPr marL="0" lvl="0" indent="0" algn="l" rtl="0">
              <a:lnSpc>
                <a:spcPct val="115000"/>
              </a:lnSpc>
              <a:spcBef>
                <a:spcPts val="0"/>
              </a:spcBef>
              <a:spcAft>
                <a:spcPts val="0"/>
              </a:spcAft>
              <a:buClr>
                <a:schemeClr val="dk1"/>
              </a:buClr>
              <a:buSzPts val="1100"/>
              <a:buFont typeface="Arial"/>
              <a:buNone/>
            </a:pPr>
            <a:endParaRPr sz="2400" b="1" dirty="0"/>
          </a:p>
          <a:p>
            <a:pPr marL="1280160" lvl="0" indent="-685800" algn="l" rtl="0">
              <a:lnSpc>
                <a:spcPct val="100000"/>
              </a:lnSpc>
              <a:spcBef>
                <a:spcPts val="0"/>
              </a:spcBef>
              <a:spcAft>
                <a:spcPts val="0"/>
              </a:spcAft>
              <a:buClr>
                <a:schemeClr val="dk1"/>
              </a:buClr>
              <a:buSzPts val="3600"/>
              <a:buFont typeface="Arial"/>
              <a:buNone/>
            </a:pPr>
            <a:endParaRPr dirty="0"/>
          </a:p>
        </p:txBody>
      </p:sp>
      <p:sp>
        <p:nvSpPr>
          <p:cNvPr id="44" name="Google Shape;44;p4"/>
          <p:cNvSpPr txBox="1">
            <a:spLocks noGrp="1"/>
          </p:cNvSpPr>
          <p:nvPr>
            <p:ph type="body" idx="13"/>
          </p:nvPr>
        </p:nvSpPr>
        <p:spPr>
          <a:xfrm>
            <a:off x="1037550" y="8102649"/>
            <a:ext cx="9986700" cy="22743111"/>
          </a:xfrm>
          <a:prstGeom prst="rect">
            <a:avLst/>
          </a:prstGeom>
          <a:solidFill>
            <a:srgbClr val="A9BD58"/>
          </a:solidFill>
          <a:ln w="19050" cap="flat" cmpd="sng">
            <a:solidFill>
              <a:schemeClr val="dk1"/>
            </a:solidFill>
            <a:prstDash val="solid"/>
            <a:round/>
            <a:headEnd type="none" w="sm" len="sm"/>
            <a:tailEnd type="none" w="sm" len="sm"/>
          </a:ln>
        </p:spPr>
        <p:txBody>
          <a:bodyPr spcFirstLastPara="1" wrap="square" lIns="457200" tIns="457200" rIns="457200" bIns="4572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2400" b="1" dirty="0">
                <a:latin typeface="Roboto"/>
                <a:ea typeface="Roboto"/>
                <a:cs typeface="Roboto"/>
                <a:sym typeface="Roboto"/>
              </a:rPr>
              <a:t>What is an API?</a:t>
            </a:r>
          </a:p>
          <a:p>
            <a:pPr marL="0" lvl="0" indent="457200" algn="l" rtl="0">
              <a:lnSpc>
                <a:spcPct val="115000"/>
              </a:lnSpc>
              <a:spcBef>
                <a:spcPts val="0"/>
              </a:spcBef>
              <a:spcAft>
                <a:spcPts val="0"/>
              </a:spcAft>
              <a:buClr>
                <a:schemeClr val="dk1"/>
              </a:buClr>
              <a:buSzPts val="1100"/>
              <a:buFont typeface="Arial"/>
              <a:buNone/>
            </a:pPr>
            <a:r>
              <a:rPr lang="en-US" sz="2400" dirty="0">
                <a:highlight>
                  <a:srgbClr val="A9BD58"/>
                </a:highlight>
                <a:latin typeface="Roboto"/>
                <a:ea typeface="Roboto"/>
                <a:cs typeface="Roboto"/>
                <a:sym typeface="Roboto"/>
              </a:rPr>
              <a:t>The term API is an acronym that stands for “Application Programming Interface.” APIs are used in everyday technological use. From digital maps and location tracking to social media platforms, APIs allow users to quickly access services or information through a piece of software that connects the user’s requests to the server containing the requested data. </a:t>
            </a:r>
            <a:r>
              <a:rPr lang="en-US" sz="2400" dirty="0" err="1">
                <a:highlight>
                  <a:srgbClr val="A9BD58"/>
                </a:highlight>
                <a:latin typeface="Roboto"/>
                <a:ea typeface="Roboto"/>
                <a:cs typeface="Roboto"/>
                <a:sym typeface="Roboto"/>
              </a:rPr>
              <a:t>Outbreak.info</a:t>
            </a:r>
            <a:r>
              <a:rPr lang="en-US" sz="2400" dirty="0">
                <a:highlight>
                  <a:srgbClr val="A9BD58"/>
                </a:highlight>
                <a:latin typeface="Roboto"/>
                <a:ea typeface="Roboto"/>
                <a:cs typeface="Roboto"/>
                <a:sym typeface="Roboto"/>
              </a:rPr>
              <a:t> is one such API that is specifically developed for tracking relevant SARS-COV-2 genomic and </a:t>
            </a:r>
            <a:r>
              <a:rPr lang="en-US" sz="2400" dirty="0">
                <a:solidFill>
                  <a:srgbClr val="333333"/>
                </a:solidFill>
                <a:highlight>
                  <a:srgbClr val="A9BD58"/>
                </a:highlight>
                <a:latin typeface="Roboto"/>
                <a:ea typeface="Roboto"/>
                <a:cs typeface="Roboto"/>
                <a:sym typeface="Roboto"/>
              </a:rPr>
              <a:t>epidemiologic</a:t>
            </a:r>
            <a:r>
              <a:rPr lang="en-US" sz="2400" dirty="0">
                <a:highlight>
                  <a:srgbClr val="A9BD58"/>
                </a:highlight>
                <a:latin typeface="Roboto"/>
                <a:ea typeface="Roboto"/>
                <a:cs typeface="Roboto"/>
                <a:sym typeface="Roboto"/>
              </a:rPr>
              <a:t> data worldwide. </a:t>
            </a:r>
            <a:r>
              <a:rPr lang="en-US" sz="2400" dirty="0">
                <a:latin typeface="Roboto"/>
                <a:ea typeface="Roboto"/>
                <a:cs typeface="Roboto"/>
                <a:sym typeface="Roboto"/>
              </a:rPr>
              <a:t>Tracking over 11.8 million sequences across 7,000+ locations, the API provides quick dissemination of standardized data, scalable ingestion and data parsing, and intuitive, client-friendly visualizations. </a:t>
            </a:r>
            <a:endParaRPr lang="en-US" sz="2400" dirty="0">
              <a:highlight>
                <a:srgbClr val="A9BD58"/>
              </a:highlight>
              <a:latin typeface="Roboto"/>
              <a:ea typeface="Roboto"/>
              <a:cs typeface="Roboto"/>
              <a:sym typeface="Roboto"/>
            </a:endParaRPr>
          </a:p>
          <a:p>
            <a:pPr marL="0" lvl="0" indent="457200" algn="l" rtl="0">
              <a:lnSpc>
                <a:spcPct val="115000"/>
              </a:lnSpc>
              <a:spcBef>
                <a:spcPts val="0"/>
              </a:spcBef>
              <a:spcAft>
                <a:spcPts val="0"/>
              </a:spcAft>
              <a:buClr>
                <a:schemeClr val="dk1"/>
              </a:buClr>
              <a:buSzPts val="1100"/>
              <a:buFont typeface="Arial"/>
              <a:buNone/>
            </a:pPr>
            <a:endParaRPr lang="en-US" sz="2400" dirty="0">
              <a:highlight>
                <a:srgbClr val="A9BD58"/>
              </a:highlight>
            </a:endParaRPr>
          </a:p>
          <a:p>
            <a:pPr marL="0" lvl="0" indent="0" algn="l" rtl="0">
              <a:lnSpc>
                <a:spcPct val="115000"/>
              </a:lnSpc>
              <a:spcBef>
                <a:spcPts val="0"/>
              </a:spcBef>
              <a:spcAft>
                <a:spcPts val="0"/>
              </a:spcAft>
              <a:buClr>
                <a:schemeClr val="dk1"/>
              </a:buClr>
              <a:buSzPts val="1100"/>
              <a:buFont typeface="Arial"/>
              <a:buNone/>
            </a:pPr>
            <a:r>
              <a:rPr lang="en-US" sz="2400" b="1" dirty="0">
                <a:highlight>
                  <a:srgbClr val="A9BD58"/>
                </a:highlight>
              </a:rPr>
              <a:t>                        </a:t>
            </a:r>
          </a:p>
          <a:p>
            <a:pPr marL="0" lvl="0" indent="0" algn="l" rtl="0">
              <a:lnSpc>
                <a:spcPct val="115000"/>
              </a:lnSpc>
              <a:spcBef>
                <a:spcPts val="0"/>
              </a:spcBef>
              <a:spcAft>
                <a:spcPts val="0"/>
              </a:spcAft>
              <a:buClr>
                <a:schemeClr val="dk1"/>
              </a:buClr>
              <a:buSzPts val="1100"/>
              <a:buFont typeface="Arial"/>
              <a:buNone/>
            </a:pPr>
            <a:endParaRPr lang="en-US" sz="2400" b="1" dirty="0">
              <a:highlight>
                <a:srgbClr val="A9BD58"/>
              </a:highlight>
            </a:endParaRPr>
          </a:p>
          <a:p>
            <a:pPr marL="0" lvl="0" indent="0" algn="l" rtl="0">
              <a:lnSpc>
                <a:spcPct val="115000"/>
              </a:lnSpc>
              <a:spcBef>
                <a:spcPts val="0"/>
              </a:spcBef>
              <a:spcAft>
                <a:spcPts val="0"/>
              </a:spcAft>
              <a:buClr>
                <a:schemeClr val="dk1"/>
              </a:buClr>
              <a:buSzPts val="1100"/>
              <a:buFont typeface="Arial"/>
              <a:buNone/>
            </a:pPr>
            <a:endParaRPr lang="en-US" sz="2400" b="1" dirty="0">
              <a:highlight>
                <a:srgbClr val="A9BD58"/>
              </a:highlight>
            </a:endParaRPr>
          </a:p>
          <a:p>
            <a:pPr marL="0" lvl="0" indent="0" algn="l" rtl="0">
              <a:lnSpc>
                <a:spcPct val="115000"/>
              </a:lnSpc>
              <a:spcBef>
                <a:spcPts val="0"/>
              </a:spcBef>
              <a:spcAft>
                <a:spcPts val="0"/>
              </a:spcAft>
              <a:buClr>
                <a:schemeClr val="dk1"/>
              </a:buClr>
              <a:buSzPts val="1100"/>
              <a:buFont typeface="Arial"/>
              <a:buNone/>
            </a:pPr>
            <a:endParaRPr lang="en-US" sz="2400" b="1" dirty="0">
              <a:highlight>
                <a:srgbClr val="A9BD58"/>
              </a:highlight>
            </a:endParaRPr>
          </a:p>
          <a:p>
            <a:pPr marL="0" lvl="0" indent="0" algn="l" rtl="0">
              <a:lnSpc>
                <a:spcPct val="115000"/>
              </a:lnSpc>
              <a:spcBef>
                <a:spcPts val="0"/>
              </a:spcBef>
              <a:spcAft>
                <a:spcPts val="0"/>
              </a:spcAft>
              <a:buClr>
                <a:schemeClr val="dk1"/>
              </a:buClr>
              <a:buSzPts val="1100"/>
              <a:buFont typeface="Arial"/>
              <a:buNone/>
            </a:pPr>
            <a:endParaRPr lang="en-US" sz="2400" b="1" dirty="0">
              <a:highlight>
                <a:srgbClr val="A9BD58"/>
              </a:highlight>
            </a:endParaRPr>
          </a:p>
          <a:p>
            <a:pPr marL="0" lvl="0" indent="0" algn="l" rtl="0">
              <a:lnSpc>
                <a:spcPct val="115000"/>
              </a:lnSpc>
              <a:spcBef>
                <a:spcPts val="0"/>
              </a:spcBef>
              <a:spcAft>
                <a:spcPts val="0"/>
              </a:spcAft>
              <a:buClr>
                <a:schemeClr val="dk1"/>
              </a:buClr>
              <a:buSzPts val="1100"/>
              <a:buFont typeface="Arial"/>
              <a:buNone/>
            </a:pPr>
            <a:endParaRPr lang="en-US" sz="2400" b="1" dirty="0">
              <a:highlight>
                <a:srgbClr val="A9BD58"/>
              </a:highlight>
            </a:endParaRPr>
          </a:p>
          <a:p>
            <a:pPr marL="0" lvl="0" indent="0" algn="l" rtl="0">
              <a:lnSpc>
                <a:spcPct val="115000"/>
              </a:lnSpc>
              <a:spcBef>
                <a:spcPts val="0"/>
              </a:spcBef>
              <a:spcAft>
                <a:spcPts val="0"/>
              </a:spcAft>
              <a:buClr>
                <a:schemeClr val="dk1"/>
              </a:buClr>
              <a:buSzPts val="1100"/>
              <a:buFont typeface="Arial"/>
              <a:buNone/>
            </a:pPr>
            <a:endParaRPr lang="en-US" sz="2400" b="1" dirty="0">
              <a:highlight>
                <a:srgbClr val="A9BD58"/>
              </a:highlight>
            </a:endParaRPr>
          </a:p>
          <a:p>
            <a:pPr marL="0" lvl="0" indent="0" algn="l" rtl="0">
              <a:lnSpc>
                <a:spcPct val="115000"/>
              </a:lnSpc>
              <a:spcBef>
                <a:spcPts val="0"/>
              </a:spcBef>
              <a:spcAft>
                <a:spcPts val="0"/>
              </a:spcAft>
              <a:buClr>
                <a:schemeClr val="dk1"/>
              </a:buClr>
              <a:buSzPts val="1100"/>
              <a:buFont typeface="Arial"/>
              <a:buNone/>
            </a:pPr>
            <a:endParaRPr lang="en-US" sz="2400" b="1" dirty="0">
              <a:highlight>
                <a:srgbClr val="A9BD58"/>
              </a:highlight>
            </a:endParaRPr>
          </a:p>
          <a:p>
            <a:pPr marL="0" lvl="0" indent="0" algn="l" rtl="0">
              <a:lnSpc>
                <a:spcPct val="115000"/>
              </a:lnSpc>
              <a:spcBef>
                <a:spcPts val="0"/>
              </a:spcBef>
              <a:spcAft>
                <a:spcPts val="0"/>
              </a:spcAft>
              <a:buClr>
                <a:schemeClr val="dk1"/>
              </a:buClr>
              <a:buSzPts val="1100"/>
              <a:buFont typeface="Arial"/>
              <a:buNone/>
            </a:pPr>
            <a:endParaRPr lang="en-US" sz="2400" b="1" dirty="0">
              <a:highlight>
                <a:srgbClr val="A9BD58"/>
              </a:highlight>
            </a:endParaRPr>
          </a:p>
          <a:p>
            <a:pPr marL="0" lvl="0" indent="0" algn="l" rtl="0">
              <a:lnSpc>
                <a:spcPct val="115000"/>
              </a:lnSpc>
              <a:spcBef>
                <a:spcPts val="0"/>
              </a:spcBef>
              <a:spcAft>
                <a:spcPts val="0"/>
              </a:spcAft>
              <a:buClr>
                <a:schemeClr val="dk1"/>
              </a:buClr>
              <a:buSzPts val="1100"/>
              <a:buFont typeface="Arial"/>
              <a:buNone/>
            </a:pPr>
            <a:endParaRPr lang="en-US" sz="2400" b="1" dirty="0">
              <a:highlight>
                <a:srgbClr val="A9BD58"/>
              </a:highlight>
            </a:endParaRPr>
          </a:p>
          <a:p>
            <a:pPr marL="0" lvl="0" indent="457200" algn="l" rtl="0">
              <a:lnSpc>
                <a:spcPct val="115000"/>
              </a:lnSpc>
              <a:spcBef>
                <a:spcPts val="0"/>
              </a:spcBef>
              <a:spcAft>
                <a:spcPts val="0"/>
              </a:spcAft>
              <a:buClr>
                <a:schemeClr val="dk1"/>
              </a:buClr>
              <a:buSzPts val="1100"/>
              <a:buFont typeface="Arial"/>
              <a:buNone/>
            </a:pPr>
            <a:endParaRPr lang="en-US" sz="2400" dirty="0">
              <a:highlight>
                <a:srgbClr val="A9BD58"/>
              </a:highlight>
            </a:endParaRPr>
          </a:p>
          <a:p>
            <a:pPr marL="0" lvl="0" indent="0" algn="l" rtl="0">
              <a:lnSpc>
                <a:spcPct val="115000"/>
              </a:lnSpc>
              <a:spcBef>
                <a:spcPts val="0"/>
              </a:spcBef>
              <a:spcAft>
                <a:spcPts val="0"/>
              </a:spcAft>
              <a:buClr>
                <a:schemeClr val="dk1"/>
              </a:buClr>
              <a:buSzPts val="1100"/>
              <a:buFont typeface="Arial"/>
              <a:buNone/>
            </a:pPr>
            <a:endParaRPr lang="en-US" sz="1900" b="1" dirty="0"/>
          </a:p>
          <a:p>
            <a:pPr marL="0" lvl="0" indent="0" algn="l" rtl="0">
              <a:lnSpc>
                <a:spcPct val="115000"/>
              </a:lnSpc>
              <a:spcBef>
                <a:spcPts val="0"/>
              </a:spcBef>
              <a:spcAft>
                <a:spcPts val="0"/>
              </a:spcAft>
              <a:buClr>
                <a:schemeClr val="dk1"/>
              </a:buClr>
              <a:buSzPts val="1100"/>
              <a:buFont typeface="Arial"/>
              <a:buNone/>
            </a:pPr>
            <a:endParaRPr lang="en-US" sz="1100" b="1" dirty="0"/>
          </a:p>
          <a:p>
            <a:pPr marL="0" lvl="0" indent="0" algn="l" rtl="0">
              <a:lnSpc>
                <a:spcPct val="115000"/>
              </a:lnSpc>
              <a:spcBef>
                <a:spcPts val="0"/>
              </a:spcBef>
              <a:spcAft>
                <a:spcPts val="0"/>
              </a:spcAft>
              <a:buClr>
                <a:schemeClr val="dk1"/>
              </a:buClr>
              <a:buSzPts val="1100"/>
              <a:buFont typeface="Arial"/>
              <a:buNone/>
            </a:pPr>
            <a:endParaRPr lang="en-US" sz="1500" b="1" dirty="0"/>
          </a:p>
          <a:p>
            <a:pPr marL="0" lvl="0" indent="0" algn="l" rtl="0">
              <a:lnSpc>
                <a:spcPct val="115000"/>
              </a:lnSpc>
              <a:spcBef>
                <a:spcPts val="0"/>
              </a:spcBef>
              <a:spcAft>
                <a:spcPts val="0"/>
              </a:spcAft>
              <a:buClr>
                <a:schemeClr val="dk1"/>
              </a:buClr>
              <a:buSzPts val="1100"/>
              <a:buFont typeface="Arial"/>
              <a:buNone/>
            </a:pPr>
            <a:endParaRPr lang="en-US" sz="2900" b="1" dirty="0"/>
          </a:p>
          <a:p>
            <a:pPr marL="0" lvl="0" indent="0" algn="l" rtl="0">
              <a:lnSpc>
                <a:spcPct val="115000"/>
              </a:lnSpc>
              <a:spcBef>
                <a:spcPts val="0"/>
              </a:spcBef>
              <a:spcAft>
                <a:spcPts val="0"/>
              </a:spcAft>
              <a:buClr>
                <a:schemeClr val="dk1"/>
              </a:buClr>
              <a:buSzPts val="1100"/>
              <a:buFont typeface="Arial"/>
              <a:buNone/>
            </a:pPr>
            <a:r>
              <a:rPr lang="en-US" sz="2400" b="1" dirty="0">
                <a:latin typeface="Roboto"/>
                <a:ea typeface="Roboto"/>
                <a:cs typeface="Roboto"/>
                <a:sym typeface="Roboto"/>
              </a:rPr>
              <a:t>Importance of </a:t>
            </a:r>
            <a:r>
              <a:rPr lang="en-US" sz="2400" b="1" dirty="0" err="1">
                <a:latin typeface="Roboto"/>
                <a:ea typeface="Roboto"/>
                <a:cs typeface="Roboto"/>
                <a:sym typeface="Roboto"/>
              </a:rPr>
              <a:t>Outbreak.info</a:t>
            </a:r>
            <a:endParaRPr lang="en-US" sz="2400" b="1" dirty="0">
              <a:latin typeface="Roboto"/>
              <a:ea typeface="Roboto"/>
              <a:cs typeface="Roboto"/>
              <a:sym typeface="Roboto"/>
            </a:endParaRPr>
          </a:p>
          <a:p>
            <a:pPr marL="0" lvl="0" indent="457200" algn="l" rtl="0">
              <a:lnSpc>
                <a:spcPct val="115000"/>
              </a:lnSpc>
              <a:spcBef>
                <a:spcPts val="0"/>
              </a:spcBef>
              <a:spcAft>
                <a:spcPts val="0"/>
              </a:spcAft>
              <a:buClr>
                <a:schemeClr val="dk1"/>
              </a:buClr>
              <a:buSzPts val="1100"/>
              <a:buFont typeface="Arial"/>
              <a:buNone/>
            </a:pPr>
            <a:r>
              <a:rPr lang="en-US" sz="2400" dirty="0">
                <a:latin typeface="Roboto"/>
                <a:ea typeface="Roboto"/>
                <a:cs typeface="Roboto"/>
                <a:sym typeface="Roboto"/>
              </a:rPr>
              <a:t>In response to the emergence of SARS-CoV-2, the global scientific community has worked to sequence and document millions of genome in order to keep close tabs on the spread of the virus. However, the rapid evolution of the virus has created new variants of concern (VOCs), leading to renewed surges worldwide. The need for real-time genomic surveillance has prompted the development of a more practical way to keep track of SARS-COV-2 VOCs and inform public health interventions.</a:t>
            </a:r>
          </a:p>
          <a:p>
            <a:pPr marL="0" lvl="0" indent="457200" algn="l" rtl="0">
              <a:lnSpc>
                <a:spcPct val="115000"/>
              </a:lnSpc>
              <a:spcBef>
                <a:spcPts val="0"/>
              </a:spcBef>
              <a:spcAft>
                <a:spcPts val="0"/>
              </a:spcAft>
              <a:buClr>
                <a:schemeClr val="dk1"/>
              </a:buClr>
              <a:buSzPts val="1100"/>
              <a:buFont typeface="Arial"/>
              <a:buNone/>
            </a:pPr>
            <a:r>
              <a:rPr lang="en-US" sz="2400" dirty="0">
                <a:latin typeface="Roboto"/>
                <a:ea typeface="Roboto"/>
                <a:cs typeface="Roboto"/>
                <a:sym typeface="Roboto"/>
              </a:rPr>
              <a:t>Previously existing tools (e.g. NextStrain</a:t>
            </a:r>
            <a:r>
              <a:rPr lang="en-US" sz="2400" baseline="30000" dirty="0">
                <a:latin typeface="Roboto"/>
                <a:ea typeface="Roboto"/>
                <a:cs typeface="Roboto"/>
                <a:sym typeface="Roboto"/>
              </a:rPr>
              <a:t>1</a:t>
            </a:r>
            <a:r>
              <a:rPr lang="en-US" sz="2400" dirty="0">
                <a:latin typeface="Roboto"/>
                <a:ea typeface="Roboto"/>
                <a:cs typeface="Roboto"/>
                <a:sym typeface="Roboto"/>
              </a:rPr>
              <a:t>, CoVarient</a:t>
            </a:r>
            <a:r>
              <a:rPr lang="en-US" sz="2400" baseline="30000" dirty="0">
                <a:latin typeface="Roboto"/>
                <a:ea typeface="Roboto"/>
                <a:cs typeface="Roboto"/>
                <a:sym typeface="Roboto"/>
              </a:rPr>
              <a:t>2</a:t>
            </a:r>
            <a:r>
              <a:rPr lang="en-US" sz="2400" dirty="0">
                <a:latin typeface="Roboto"/>
                <a:ea typeface="Roboto"/>
                <a:cs typeface="Roboto"/>
                <a:sym typeface="Roboto"/>
              </a:rPr>
              <a:t>) and frameworks such as Microreact</a:t>
            </a:r>
            <a:r>
              <a:rPr lang="en-US" sz="2400" baseline="30000" dirty="0">
                <a:latin typeface="Roboto"/>
                <a:ea typeface="Roboto"/>
                <a:cs typeface="Roboto"/>
                <a:sym typeface="Roboto"/>
              </a:rPr>
              <a:t>3 </a:t>
            </a:r>
            <a:r>
              <a:rPr lang="en-US" sz="2400" dirty="0">
                <a:latin typeface="Roboto"/>
                <a:ea typeface="Roboto"/>
                <a:cs typeface="Roboto"/>
                <a:sym typeface="Roboto"/>
              </a:rPr>
              <a:t>use a traditional phylogenomic approach to monitor viral evolution. However, these tools do not provide API endpoints for easy data access. Building phylogenies for large-scale data tends to be computationally expensive and time consuming to update regularly. The </a:t>
            </a:r>
            <a:r>
              <a:rPr lang="en-US" sz="2400" dirty="0" err="1">
                <a:latin typeface="Roboto"/>
                <a:ea typeface="Roboto"/>
                <a:cs typeface="Roboto"/>
                <a:sym typeface="Roboto"/>
              </a:rPr>
              <a:t>Outbreak.info</a:t>
            </a:r>
            <a:r>
              <a:rPr lang="en-US" sz="2400" dirty="0">
                <a:latin typeface="Roboto"/>
                <a:ea typeface="Roboto"/>
                <a:cs typeface="Roboto"/>
                <a:sym typeface="Roboto"/>
              </a:rPr>
              <a:t> API was designed to provide access to millions of SARS-COV-2 sequences in  real-time. The function and scale of </a:t>
            </a:r>
            <a:r>
              <a:rPr lang="en-US" sz="2400" dirty="0" err="1">
                <a:latin typeface="Roboto"/>
                <a:ea typeface="Roboto"/>
                <a:cs typeface="Roboto"/>
                <a:sym typeface="Roboto"/>
              </a:rPr>
              <a:t>Outbreak.info</a:t>
            </a:r>
            <a:r>
              <a:rPr lang="en-US" sz="2400" dirty="0">
                <a:latin typeface="Roboto"/>
                <a:ea typeface="Roboto"/>
                <a:cs typeface="Roboto"/>
                <a:sym typeface="Roboto"/>
              </a:rPr>
              <a:t> API is helping provide insight to data analysts and public health officials to help them make timely, well-informed decisions.</a:t>
            </a:r>
          </a:p>
          <a:p>
            <a:pPr marL="0" lvl="0" indent="0" algn="l" rtl="0">
              <a:lnSpc>
                <a:spcPct val="115000"/>
              </a:lnSpc>
              <a:spcBef>
                <a:spcPts val="0"/>
              </a:spcBef>
              <a:spcAft>
                <a:spcPts val="0"/>
              </a:spcAft>
              <a:buClr>
                <a:schemeClr val="dk1"/>
              </a:buClr>
              <a:buSzPts val="1100"/>
              <a:buFont typeface="Arial"/>
              <a:buNone/>
            </a:pPr>
            <a:endParaRPr sz="2700" b="1" dirty="0">
              <a:highlight>
                <a:srgbClr val="A9BD58"/>
              </a:highlight>
            </a:endParaRPr>
          </a:p>
        </p:txBody>
      </p:sp>
      <p:sp>
        <p:nvSpPr>
          <p:cNvPr id="45" name="Google Shape;45;p4"/>
          <p:cNvSpPr txBox="1">
            <a:spLocks noGrp="1"/>
          </p:cNvSpPr>
          <p:nvPr>
            <p:ph type="body" idx="19"/>
          </p:nvPr>
        </p:nvSpPr>
        <p:spPr>
          <a:xfrm>
            <a:off x="22890848" y="8044701"/>
            <a:ext cx="9478910" cy="4883350"/>
          </a:xfrm>
          <a:prstGeom prst="rect">
            <a:avLst/>
          </a:prstGeom>
          <a:solidFill>
            <a:srgbClr val="A9BD58"/>
          </a:solidFill>
          <a:ln w="19050" cap="flat" cmpd="sng">
            <a:solidFill>
              <a:schemeClr val="dk1"/>
            </a:solidFill>
            <a:prstDash val="solid"/>
            <a:round/>
            <a:headEnd type="none" w="sm" len="sm"/>
            <a:tailEnd type="none" w="sm" len="sm"/>
          </a:ln>
        </p:spPr>
        <p:txBody>
          <a:bodyPr spcFirstLastPara="1" wrap="square" lIns="457200" tIns="274300" rIns="457200" bIns="4572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2300" dirty="0"/>
              <a:t>     </a:t>
            </a:r>
            <a:r>
              <a:rPr lang="en-US" sz="2300" dirty="0">
                <a:latin typeface="Roboto"/>
                <a:ea typeface="Roboto"/>
                <a:cs typeface="Roboto"/>
                <a:sym typeface="Roboto"/>
              </a:rPr>
              <a:t>We demonstrate the usefulness of the Python API package’s ability to create visualizations of contemporary and long-scale data. New York is one of the most densely populated states in the U.S. Graphical data helps others see how SARS-COV-2 is behaving over time. </a:t>
            </a:r>
            <a:endParaRPr sz="2300" dirty="0">
              <a:latin typeface="Roboto"/>
              <a:ea typeface="Roboto"/>
              <a:cs typeface="Roboto"/>
              <a:sym typeface="Roboto"/>
            </a:endParaRPr>
          </a:p>
          <a:p>
            <a:pPr marL="457200" lvl="0" indent="-387350" algn="l" rtl="0">
              <a:lnSpc>
                <a:spcPct val="115000"/>
              </a:lnSpc>
              <a:spcBef>
                <a:spcPts val="0"/>
              </a:spcBef>
              <a:spcAft>
                <a:spcPts val="0"/>
              </a:spcAft>
              <a:buSzPts val="2500"/>
              <a:buFont typeface="Arial" panose="020B0604020202020204" pitchFamily="34" charset="0"/>
              <a:buChar char="•"/>
            </a:pPr>
            <a:r>
              <a:rPr lang="en-US" sz="2300" dirty="0">
                <a:latin typeface="Roboto"/>
                <a:ea typeface="Roboto"/>
                <a:cs typeface="Roboto"/>
                <a:sym typeface="Roboto"/>
              </a:rPr>
              <a:t>Fig. 1 utilizes the  ‘genomic’  endpoint to visually represent the prevalence of five BA.5 lineages between June 6, 2022 - July 24, 2022.</a:t>
            </a:r>
            <a:endParaRPr sz="2300" dirty="0">
              <a:latin typeface="Roboto"/>
              <a:ea typeface="Roboto"/>
              <a:cs typeface="Roboto"/>
              <a:sym typeface="Roboto"/>
            </a:endParaRPr>
          </a:p>
          <a:p>
            <a:pPr marL="457200" lvl="0" indent="-387350" algn="l" rtl="0">
              <a:lnSpc>
                <a:spcPct val="115000"/>
              </a:lnSpc>
              <a:spcBef>
                <a:spcPts val="0"/>
              </a:spcBef>
              <a:spcAft>
                <a:spcPts val="0"/>
              </a:spcAft>
              <a:buSzPts val="2500"/>
              <a:buFont typeface="Arial" panose="020B0604020202020204" pitchFamily="34" charset="0"/>
              <a:buChar char="•"/>
            </a:pPr>
            <a:r>
              <a:rPr lang="en-US" sz="2300" dirty="0">
                <a:latin typeface="Roboto"/>
                <a:ea typeface="Roboto"/>
                <a:cs typeface="Roboto"/>
                <a:sym typeface="Roboto"/>
              </a:rPr>
              <a:t>Fig. 2 utilizes the ‘covid19’ endpoint to show the number of cases in New York over the past 60 days.</a:t>
            </a:r>
            <a:endParaRPr sz="2300" dirty="0">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2400" dirty="0">
              <a:latin typeface="Roboto"/>
              <a:ea typeface="Roboto"/>
              <a:cs typeface="Roboto"/>
              <a:sym typeface="Roboto"/>
            </a:endParaRPr>
          </a:p>
          <a:p>
            <a:pPr marL="1280160" lvl="0" indent="-685800" algn="l" rtl="0">
              <a:lnSpc>
                <a:spcPct val="100000"/>
              </a:lnSpc>
              <a:spcBef>
                <a:spcPts val="0"/>
              </a:spcBef>
              <a:spcAft>
                <a:spcPts val="0"/>
              </a:spcAft>
              <a:buClr>
                <a:schemeClr val="dk1"/>
              </a:buClr>
              <a:buSzPts val="3600"/>
              <a:buFont typeface="Arial"/>
              <a:buNone/>
            </a:pPr>
            <a:endParaRPr dirty="0">
              <a:latin typeface="Roboto"/>
              <a:ea typeface="Roboto"/>
              <a:cs typeface="Roboto"/>
              <a:sym typeface="Roboto"/>
            </a:endParaRPr>
          </a:p>
        </p:txBody>
      </p:sp>
      <p:sp>
        <p:nvSpPr>
          <p:cNvPr id="46" name="Google Shape;46;p4"/>
          <p:cNvSpPr txBox="1">
            <a:spLocks noGrp="1"/>
          </p:cNvSpPr>
          <p:nvPr>
            <p:ph type="body" idx="20"/>
          </p:nvPr>
        </p:nvSpPr>
        <p:spPr>
          <a:xfrm>
            <a:off x="24024998" y="19614589"/>
            <a:ext cx="69225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274300" tIns="457200" rIns="0" bIns="457200" anchor="ctr" anchorCtr="0">
            <a:noAutofit/>
          </a:bodyPr>
          <a:lstStyle/>
          <a:p>
            <a:pPr marL="0" lvl="0" indent="0" algn="l" rtl="0">
              <a:lnSpc>
                <a:spcPct val="115000"/>
              </a:lnSpc>
              <a:spcBef>
                <a:spcPts val="0"/>
              </a:spcBef>
              <a:spcAft>
                <a:spcPts val="0"/>
              </a:spcAft>
              <a:buClr>
                <a:schemeClr val="dk1"/>
              </a:buClr>
              <a:buSzPts val="1100"/>
              <a:buFont typeface="Arial"/>
              <a:buNone/>
            </a:pPr>
            <a:r>
              <a:rPr lang="en-US" sz="1300" b="1" dirty="0"/>
              <a:t>Fig.1: </a:t>
            </a:r>
            <a:r>
              <a:rPr lang="en-US" sz="1300" dirty="0"/>
              <a:t>Prevalence of five BA.5 lineages between June 6, 2022 - July  24, 2022</a:t>
            </a:r>
            <a:endParaRPr sz="1300" dirty="0"/>
          </a:p>
        </p:txBody>
      </p:sp>
      <p:pic>
        <p:nvPicPr>
          <p:cNvPr id="47" name="Google Shape;47;p4"/>
          <p:cNvPicPr preferRelativeResize="0"/>
          <p:nvPr/>
        </p:nvPicPr>
        <p:blipFill>
          <a:blip r:embed="rId5">
            <a:alphaModFix/>
          </a:blip>
          <a:stretch>
            <a:fillRect/>
          </a:stretch>
        </p:blipFill>
        <p:spPr>
          <a:xfrm>
            <a:off x="2055638" y="14830913"/>
            <a:ext cx="8007174" cy="5230825"/>
          </a:xfrm>
          <a:prstGeom prst="rect">
            <a:avLst/>
          </a:prstGeom>
          <a:no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pic>
      <p:pic>
        <p:nvPicPr>
          <p:cNvPr id="48" name="Google Shape;48;p4"/>
          <p:cNvPicPr preferRelativeResize="0"/>
          <p:nvPr/>
        </p:nvPicPr>
        <p:blipFill>
          <a:blip r:embed="rId6">
            <a:alphaModFix/>
          </a:blip>
          <a:stretch>
            <a:fillRect/>
          </a:stretch>
        </p:blipFill>
        <p:spPr>
          <a:xfrm>
            <a:off x="860007" y="1340632"/>
            <a:ext cx="11356724" cy="2326085"/>
          </a:xfrm>
          <a:prstGeom prst="rect">
            <a:avLst/>
          </a:prstGeom>
          <a:noFill/>
          <a:ln>
            <a:noFill/>
          </a:ln>
        </p:spPr>
      </p:pic>
      <p:pic>
        <p:nvPicPr>
          <p:cNvPr id="49" name="Google Shape;49;p4"/>
          <p:cNvPicPr preferRelativeResize="0"/>
          <p:nvPr/>
        </p:nvPicPr>
        <p:blipFill>
          <a:blip r:embed="rId7">
            <a:alphaModFix/>
          </a:blip>
          <a:stretch>
            <a:fillRect/>
          </a:stretch>
        </p:blipFill>
        <p:spPr>
          <a:xfrm>
            <a:off x="19825238" y="8352813"/>
            <a:ext cx="1674518" cy="1674474"/>
          </a:xfrm>
          <a:prstGeom prst="rect">
            <a:avLst/>
          </a:prstGeom>
          <a:noFill/>
          <a:ln>
            <a:noFill/>
          </a:ln>
        </p:spPr>
      </p:pic>
      <p:pic>
        <p:nvPicPr>
          <p:cNvPr id="50" name="Google Shape;50;p4"/>
          <p:cNvPicPr preferRelativeResize="0"/>
          <p:nvPr/>
        </p:nvPicPr>
        <p:blipFill>
          <a:blip r:embed="rId8">
            <a:alphaModFix/>
          </a:blip>
          <a:stretch>
            <a:fillRect/>
          </a:stretch>
        </p:blipFill>
        <p:spPr>
          <a:xfrm>
            <a:off x="13587063" y="1289395"/>
            <a:ext cx="11619645" cy="2326200"/>
          </a:xfrm>
          <a:prstGeom prst="rect">
            <a:avLst/>
          </a:prstGeom>
          <a:noFill/>
          <a:ln>
            <a:noFill/>
          </a:ln>
        </p:spPr>
      </p:pic>
      <p:sp>
        <p:nvSpPr>
          <p:cNvPr id="51" name="Google Shape;51;p4"/>
          <p:cNvSpPr txBox="1">
            <a:spLocks noGrp="1"/>
          </p:cNvSpPr>
          <p:nvPr>
            <p:ph type="body" idx="3"/>
          </p:nvPr>
        </p:nvSpPr>
        <p:spPr>
          <a:xfrm>
            <a:off x="11964200" y="15936994"/>
            <a:ext cx="9986700" cy="1674600"/>
          </a:xfrm>
          <a:prstGeom prst="rect">
            <a:avLst/>
          </a:prstGeom>
          <a:solidFill>
            <a:srgbClr val="DCA10D"/>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Clr>
                <a:schemeClr val="lt1"/>
              </a:buClr>
              <a:buSzPts val="4000"/>
              <a:buNone/>
            </a:pPr>
            <a:r>
              <a:rPr lang="en-US" sz="4200" dirty="0"/>
              <a:t>Methods</a:t>
            </a:r>
            <a:endParaRPr sz="4200" dirty="0"/>
          </a:p>
        </p:txBody>
      </p:sp>
      <p:sp>
        <p:nvSpPr>
          <p:cNvPr id="52" name="Google Shape;52;p4"/>
          <p:cNvSpPr txBox="1"/>
          <p:nvPr/>
        </p:nvSpPr>
        <p:spPr>
          <a:xfrm>
            <a:off x="33760850" y="8044701"/>
            <a:ext cx="9190800" cy="9871209"/>
          </a:xfrm>
          <a:prstGeom prst="rect">
            <a:avLst/>
          </a:prstGeom>
          <a:solidFill>
            <a:srgbClr val="A9BD58"/>
          </a:solidFill>
          <a:ln w="19050" cap="flat" cmpd="sng">
            <a:solidFill>
              <a:schemeClr val="dk1"/>
            </a:solidFill>
            <a:prstDash val="solid"/>
            <a:round/>
            <a:headEnd type="none" w="sm" len="sm"/>
            <a:tailEnd type="none" w="sm" len="sm"/>
          </a:ln>
        </p:spPr>
        <p:txBody>
          <a:bodyPr spcFirstLastPara="1" wrap="square" lIns="457200" tIns="457200" rIns="365750" bIns="457200" anchor="t" anchorCtr="0">
            <a:noAutofit/>
          </a:bodyPr>
          <a:lstStyle/>
          <a:p>
            <a:pPr lvl="0">
              <a:lnSpc>
                <a:spcPct val="115000"/>
              </a:lnSpc>
            </a:pPr>
            <a:r>
              <a:rPr lang="en-US" sz="2300" dirty="0">
                <a:solidFill>
                  <a:schemeClr val="dk1"/>
                </a:solidFill>
                <a:highlight>
                  <a:srgbClr val="A9BD58"/>
                </a:highlight>
                <a:latin typeface="Roboto"/>
                <a:ea typeface="Roboto"/>
                <a:cs typeface="Roboto"/>
                <a:sym typeface="Roboto"/>
              </a:rPr>
              <a:t>We created the </a:t>
            </a:r>
            <a:r>
              <a:rPr lang="en-US" sz="2300" dirty="0" err="1">
                <a:solidFill>
                  <a:schemeClr val="dk1"/>
                </a:solidFill>
                <a:highlight>
                  <a:srgbClr val="A9BD58"/>
                </a:highlight>
                <a:latin typeface="Roboto"/>
                <a:ea typeface="Roboto"/>
                <a:cs typeface="Roboto"/>
                <a:sym typeface="Roboto"/>
              </a:rPr>
              <a:t>Outbreak.info</a:t>
            </a:r>
            <a:r>
              <a:rPr lang="en-US" sz="2300" dirty="0">
                <a:solidFill>
                  <a:schemeClr val="dk1"/>
                </a:solidFill>
                <a:highlight>
                  <a:srgbClr val="A9BD58"/>
                </a:highlight>
                <a:latin typeface="Roboto"/>
                <a:ea typeface="Roboto"/>
                <a:cs typeface="Roboto"/>
                <a:sym typeface="Roboto"/>
              </a:rPr>
              <a:t> API as a more practical  tool to monitor the evolution of SARS-COV-2 while giving more people access to the latest genomic and epidemiologic data. Compared to other existing phylogenetic tools, </a:t>
            </a:r>
            <a:r>
              <a:rPr lang="en-US" sz="2300" dirty="0" err="1">
                <a:solidFill>
                  <a:schemeClr val="dk1"/>
                </a:solidFill>
                <a:highlight>
                  <a:srgbClr val="A9BD58"/>
                </a:highlight>
                <a:latin typeface="Roboto"/>
                <a:ea typeface="Roboto"/>
                <a:cs typeface="Roboto"/>
                <a:sym typeface="Roboto"/>
              </a:rPr>
              <a:t>Outbreak.info</a:t>
            </a:r>
            <a:r>
              <a:rPr lang="en-US" sz="2300" dirty="0">
                <a:solidFill>
                  <a:schemeClr val="dk1"/>
                </a:solidFill>
                <a:highlight>
                  <a:srgbClr val="A9BD58"/>
                </a:highlight>
                <a:latin typeface="Roboto"/>
                <a:ea typeface="Roboto"/>
                <a:cs typeface="Roboto"/>
                <a:sym typeface="Roboto"/>
              </a:rPr>
              <a:t> allows for flexible data analyses, complex visualizations, and faster data dispensation. The </a:t>
            </a:r>
            <a:r>
              <a:rPr lang="en-US" sz="2300" dirty="0" err="1">
                <a:solidFill>
                  <a:schemeClr val="dk1"/>
                </a:solidFill>
                <a:highlight>
                  <a:srgbClr val="A9BD58"/>
                </a:highlight>
                <a:latin typeface="Roboto"/>
                <a:ea typeface="Roboto"/>
                <a:cs typeface="Roboto"/>
                <a:sym typeface="Roboto"/>
              </a:rPr>
              <a:t>Outbreak.info</a:t>
            </a:r>
            <a:r>
              <a:rPr lang="en-US" sz="2300" dirty="0">
                <a:solidFill>
                  <a:schemeClr val="dk1"/>
                </a:solidFill>
                <a:highlight>
                  <a:srgbClr val="A9BD58"/>
                </a:highlight>
                <a:latin typeface="Roboto"/>
                <a:ea typeface="Roboto"/>
                <a:cs typeface="Roboto"/>
                <a:sym typeface="Roboto"/>
              </a:rPr>
              <a:t> Python API package will expand access to data for those studying SARS-COV-2.</a:t>
            </a:r>
          </a:p>
          <a:p>
            <a:pPr lvl="0">
              <a:lnSpc>
                <a:spcPct val="115000"/>
              </a:lnSpc>
              <a:buClr>
                <a:schemeClr val="dk1"/>
              </a:buClr>
              <a:buSzPts val="1100"/>
            </a:pPr>
            <a:endParaRPr lang="en-US" sz="2300" dirty="0">
              <a:solidFill>
                <a:schemeClr val="dk1"/>
              </a:solidFill>
              <a:highlight>
                <a:srgbClr val="A9BD58"/>
              </a:highlight>
              <a:latin typeface="Roboto"/>
              <a:ea typeface="Roboto"/>
              <a:cs typeface="Roboto"/>
              <a:sym typeface="Roboto"/>
            </a:endParaRPr>
          </a:p>
          <a:p>
            <a:pPr lvl="0">
              <a:lnSpc>
                <a:spcPct val="115000"/>
              </a:lnSpc>
              <a:buClr>
                <a:schemeClr val="dk1"/>
              </a:buClr>
              <a:buSzPts val="1100"/>
            </a:pPr>
            <a:r>
              <a:rPr lang="en-US" sz="2300" b="1" dirty="0">
                <a:solidFill>
                  <a:schemeClr val="dk1"/>
                </a:solidFill>
                <a:highlight>
                  <a:srgbClr val="A9BD58"/>
                </a:highlight>
                <a:latin typeface="Roboto"/>
                <a:ea typeface="Roboto"/>
                <a:cs typeface="Roboto"/>
                <a:sym typeface="Roboto"/>
              </a:rPr>
              <a:t>Future work:</a:t>
            </a:r>
          </a:p>
          <a:p>
            <a:pPr marL="457200" lvl="0" indent="-393700">
              <a:lnSpc>
                <a:spcPct val="115000"/>
              </a:lnSpc>
              <a:buClr>
                <a:schemeClr val="dk1"/>
              </a:buClr>
              <a:buSzPts val="2600"/>
              <a:buFont typeface="Arial" panose="020B0604020202020204" pitchFamily="34" charset="0"/>
              <a:buChar char="•"/>
            </a:pPr>
            <a:r>
              <a:rPr lang="en-US" sz="2300" dirty="0">
                <a:solidFill>
                  <a:schemeClr val="dk1"/>
                </a:solidFill>
                <a:highlight>
                  <a:srgbClr val="A9BD58"/>
                </a:highlight>
                <a:latin typeface="Roboto"/>
                <a:ea typeface="Roboto"/>
                <a:cs typeface="Roboto"/>
                <a:sym typeface="Roboto"/>
              </a:rPr>
              <a:t>Implementing simple vignettes and visualizations. </a:t>
            </a:r>
          </a:p>
          <a:p>
            <a:pPr marL="457200" lvl="0" indent="-393700">
              <a:lnSpc>
                <a:spcPct val="115000"/>
              </a:lnSpc>
              <a:buClr>
                <a:schemeClr val="dk1"/>
              </a:buClr>
              <a:buSzPts val="2600"/>
              <a:buFont typeface="Arial" panose="020B0604020202020204" pitchFamily="34" charset="0"/>
              <a:buChar char="•"/>
            </a:pPr>
            <a:r>
              <a:rPr lang="en-US" sz="2300" dirty="0">
                <a:solidFill>
                  <a:schemeClr val="dk1"/>
                </a:solidFill>
                <a:highlight>
                  <a:srgbClr val="A9BD58"/>
                </a:highlight>
                <a:latin typeface="Roboto"/>
                <a:ea typeface="Roboto"/>
                <a:cs typeface="Roboto"/>
                <a:sym typeface="Roboto"/>
              </a:rPr>
              <a:t>Publicizing the package via GitHub and wrapping Python </a:t>
            </a:r>
            <a:r>
              <a:rPr lang="en-US" sz="2300" dirty="0" err="1">
                <a:solidFill>
                  <a:schemeClr val="dk1"/>
                </a:solidFill>
                <a:highlight>
                  <a:srgbClr val="A9BD58"/>
                </a:highlight>
                <a:latin typeface="Roboto"/>
                <a:ea typeface="Roboto"/>
                <a:cs typeface="Roboto"/>
                <a:sym typeface="Roboto"/>
              </a:rPr>
              <a:t>outbreak.info</a:t>
            </a:r>
            <a:r>
              <a:rPr lang="en-US" sz="2300" dirty="0">
                <a:solidFill>
                  <a:schemeClr val="dk1"/>
                </a:solidFill>
                <a:highlight>
                  <a:srgbClr val="A9BD58"/>
                </a:highlight>
                <a:latin typeface="Roboto"/>
                <a:ea typeface="Roboto"/>
                <a:cs typeface="Roboto"/>
                <a:sym typeface="Roboto"/>
              </a:rPr>
              <a:t> into a </a:t>
            </a:r>
            <a:r>
              <a:rPr lang="en-US" sz="2300" dirty="0" err="1">
                <a:solidFill>
                  <a:schemeClr val="dk1"/>
                </a:solidFill>
                <a:highlight>
                  <a:srgbClr val="A9BD58"/>
                </a:highlight>
                <a:latin typeface="Roboto"/>
                <a:ea typeface="Roboto"/>
                <a:cs typeface="Roboto"/>
                <a:sym typeface="Roboto"/>
              </a:rPr>
              <a:t>conda</a:t>
            </a:r>
            <a:r>
              <a:rPr lang="en-US" sz="2300" dirty="0">
                <a:solidFill>
                  <a:schemeClr val="dk1"/>
                </a:solidFill>
                <a:highlight>
                  <a:srgbClr val="A9BD58"/>
                </a:highlight>
                <a:latin typeface="Roboto"/>
                <a:ea typeface="Roboto"/>
                <a:cs typeface="Roboto"/>
                <a:sym typeface="Roboto"/>
              </a:rPr>
              <a:t> package </a:t>
            </a:r>
          </a:p>
          <a:p>
            <a:pPr lvl="0">
              <a:lnSpc>
                <a:spcPct val="115000"/>
              </a:lnSpc>
              <a:buClr>
                <a:schemeClr val="dk1"/>
              </a:buClr>
              <a:buSzPts val="1100"/>
            </a:pPr>
            <a:endParaRPr lang="en-US" sz="2300" dirty="0">
              <a:solidFill>
                <a:schemeClr val="dk1"/>
              </a:solidFill>
              <a:highlight>
                <a:srgbClr val="A9BD58"/>
              </a:highlight>
              <a:latin typeface="Roboto"/>
              <a:ea typeface="Roboto"/>
              <a:cs typeface="Roboto"/>
              <a:sym typeface="Roboto"/>
            </a:endParaRPr>
          </a:p>
          <a:p>
            <a:pPr lvl="0">
              <a:lnSpc>
                <a:spcPct val="115000"/>
              </a:lnSpc>
              <a:buClr>
                <a:schemeClr val="dk1"/>
              </a:buClr>
              <a:buSzPts val="1100"/>
            </a:pPr>
            <a:r>
              <a:rPr lang="en-US" sz="2300" b="1" dirty="0">
                <a:solidFill>
                  <a:schemeClr val="dk1"/>
                </a:solidFill>
                <a:highlight>
                  <a:srgbClr val="A9BD58"/>
                </a:highlight>
                <a:latin typeface="Roboto"/>
                <a:ea typeface="Roboto"/>
                <a:cs typeface="Roboto"/>
                <a:sym typeface="Roboto"/>
              </a:rPr>
              <a:t>Accomplishments:</a:t>
            </a:r>
          </a:p>
          <a:p>
            <a:pPr lvl="0">
              <a:lnSpc>
                <a:spcPct val="115000"/>
              </a:lnSpc>
              <a:buClr>
                <a:schemeClr val="dk1"/>
              </a:buClr>
              <a:buSzPts val="1100"/>
            </a:pPr>
            <a:r>
              <a:rPr lang="en-US" sz="2300" dirty="0">
                <a:solidFill>
                  <a:schemeClr val="dk1"/>
                </a:solidFill>
                <a:highlight>
                  <a:srgbClr val="A9BD58"/>
                </a:highlight>
                <a:latin typeface="Roboto"/>
                <a:ea typeface="Roboto"/>
                <a:cs typeface="Roboto"/>
                <a:sym typeface="Roboto"/>
              </a:rPr>
              <a:t>     My role in this project was to create functions for the Python API package, allowing users to retrieve data from the API and make specific data queries from </a:t>
            </a:r>
            <a:r>
              <a:rPr lang="en-US" sz="2300" dirty="0" err="1">
                <a:solidFill>
                  <a:schemeClr val="dk1"/>
                </a:solidFill>
                <a:highlight>
                  <a:srgbClr val="A9BD58"/>
                </a:highlight>
                <a:latin typeface="Roboto"/>
                <a:ea typeface="Roboto"/>
                <a:cs typeface="Roboto"/>
                <a:sym typeface="Roboto"/>
              </a:rPr>
              <a:t>Outbreak.info</a:t>
            </a:r>
            <a:r>
              <a:rPr lang="en-US" sz="2300" dirty="0">
                <a:solidFill>
                  <a:schemeClr val="dk1"/>
                </a:solidFill>
                <a:highlight>
                  <a:srgbClr val="A9BD58"/>
                </a:highlight>
                <a:latin typeface="Roboto"/>
                <a:ea typeface="Roboto"/>
                <a:cs typeface="Roboto"/>
                <a:sym typeface="Roboto"/>
              </a:rPr>
              <a:t>. My hope is that my work will allow for greater accessibility to SARS-COV-2 information to help scientists, public health officials, and the general public stay informed about SARS-COV-2</a:t>
            </a:r>
            <a:endParaRPr lang="en-US" sz="2300" dirty="0">
              <a:highlight>
                <a:srgbClr val="A9BD58"/>
              </a:highlight>
            </a:endParaRPr>
          </a:p>
          <a:p>
            <a:pPr marL="0" lvl="0" indent="0" algn="l" rtl="0">
              <a:lnSpc>
                <a:spcPct val="115000"/>
              </a:lnSpc>
              <a:spcBef>
                <a:spcPts val="0"/>
              </a:spcBef>
              <a:spcAft>
                <a:spcPts val="0"/>
              </a:spcAft>
              <a:buNone/>
            </a:pPr>
            <a:endParaRPr sz="2600" dirty="0">
              <a:solidFill>
                <a:schemeClr val="dk1"/>
              </a:solidFill>
              <a:highlight>
                <a:srgbClr val="A9BD58"/>
              </a:highlight>
            </a:endParaRPr>
          </a:p>
        </p:txBody>
      </p:sp>
      <p:sp>
        <p:nvSpPr>
          <p:cNvPr id="53" name="Google Shape;53;p4"/>
          <p:cNvSpPr txBox="1"/>
          <p:nvPr/>
        </p:nvSpPr>
        <p:spPr>
          <a:xfrm>
            <a:off x="33760850" y="19332010"/>
            <a:ext cx="9190800" cy="4761789"/>
          </a:xfrm>
          <a:prstGeom prst="rect">
            <a:avLst/>
          </a:prstGeom>
          <a:solidFill>
            <a:srgbClr val="A9BD58"/>
          </a:solidFill>
          <a:ln w="19050" cap="flat" cmpd="sng">
            <a:solidFill>
              <a:schemeClr val="dk1"/>
            </a:solidFill>
            <a:prstDash val="solid"/>
            <a:round/>
            <a:headEnd type="none" w="sm" len="sm"/>
            <a:tailEnd type="none" w="sm" len="sm"/>
          </a:ln>
        </p:spPr>
        <p:txBody>
          <a:bodyPr spcFirstLastPara="1" wrap="square" lIns="274300" tIns="182875" rIns="274300" bIns="182875" anchor="t" anchorCtr="0">
            <a:noAutofit/>
          </a:bodyPr>
          <a:lstStyle/>
          <a:p>
            <a:pPr marL="0" lvl="0" indent="0" algn="l" rtl="0">
              <a:lnSpc>
                <a:spcPct val="115000"/>
              </a:lnSpc>
              <a:spcBef>
                <a:spcPts val="0"/>
              </a:spcBef>
              <a:spcAft>
                <a:spcPts val="0"/>
              </a:spcAft>
              <a:buNone/>
            </a:pPr>
            <a:r>
              <a:rPr lang="en-US" sz="1500" b="1" dirty="0" err="1">
                <a:solidFill>
                  <a:srgbClr val="222222"/>
                </a:solidFill>
                <a:highlight>
                  <a:srgbClr val="A9BD58"/>
                </a:highlight>
                <a:latin typeface="Roboto"/>
                <a:ea typeface="Roboto"/>
                <a:cs typeface="Roboto"/>
                <a:sym typeface="Roboto"/>
              </a:rPr>
              <a:t>Outbreak.info</a:t>
            </a:r>
            <a:r>
              <a:rPr lang="en-US" sz="1500" b="1" dirty="0">
                <a:solidFill>
                  <a:srgbClr val="222222"/>
                </a:solidFill>
                <a:highlight>
                  <a:srgbClr val="A9BD58"/>
                </a:highlight>
                <a:latin typeface="Roboto"/>
                <a:ea typeface="Roboto"/>
                <a:cs typeface="Roboto"/>
                <a:sym typeface="Roboto"/>
              </a:rPr>
              <a:t> Project</a:t>
            </a:r>
            <a:endParaRPr sz="1500" b="1" dirty="0">
              <a:solidFill>
                <a:srgbClr val="222222"/>
              </a:solidFill>
              <a:highlight>
                <a:srgbClr val="A9BD58"/>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500" dirty="0" err="1">
                <a:solidFill>
                  <a:srgbClr val="222222"/>
                </a:solidFill>
                <a:highlight>
                  <a:srgbClr val="A9BD58"/>
                </a:highlight>
                <a:latin typeface="Roboto"/>
                <a:ea typeface="Roboto"/>
                <a:cs typeface="Roboto"/>
                <a:sym typeface="Roboto"/>
              </a:rPr>
              <a:t>Gangavarapu</a:t>
            </a:r>
            <a:r>
              <a:rPr lang="en-US" sz="1500" dirty="0">
                <a:solidFill>
                  <a:srgbClr val="222222"/>
                </a:solidFill>
                <a:highlight>
                  <a:srgbClr val="A9BD58"/>
                </a:highlight>
                <a:latin typeface="Roboto"/>
                <a:ea typeface="Roboto"/>
                <a:cs typeface="Roboto"/>
                <a:sym typeface="Roboto"/>
              </a:rPr>
              <a:t>, Karthik, Alaa Abdel </a:t>
            </a:r>
            <a:r>
              <a:rPr lang="en-US" sz="1500" dirty="0" err="1">
                <a:solidFill>
                  <a:srgbClr val="222222"/>
                </a:solidFill>
                <a:highlight>
                  <a:srgbClr val="A9BD58"/>
                </a:highlight>
                <a:latin typeface="Roboto"/>
                <a:ea typeface="Roboto"/>
                <a:cs typeface="Roboto"/>
                <a:sym typeface="Roboto"/>
              </a:rPr>
              <a:t>Latiff</a:t>
            </a:r>
            <a:r>
              <a:rPr lang="en-US" sz="1500" dirty="0">
                <a:solidFill>
                  <a:srgbClr val="222222"/>
                </a:solidFill>
                <a:highlight>
                  <a:srgbClr val="A9BD58"/>
                </a:highlight>
                <a:latin typeface="Roboto"/>
                <a:ea typeface="Roboto"/>
                <a:cs typeface="Roboto"/>
                <a:sym typeface="Roboto"/>
              </a:rPr>
              <a:t>, Julia L. Mullen, </a:t>
            </a:r>
            <a:r>
              <a:rPr lang="en-US" sz="1500" dirty="0" err="1">
                <a:solidFill>
                  <a:srgbClr val="222222"/>
                </a:solidFill>
                <a:highlight>
                  <a:srgbClr val="A9BD58"/>
                </a:highlight>
                <a:latin typeface="Roboto"/>
                <a:ea typeface="Roboto"/>
                <a:cs typeface="Roboto"/>
                <a:sym typeface="Roboto"/>
              </a:rPr>
              <a:t>Manar</a:t>
            </a:r>
            <a:r>
              <a:rPr lang="en-US" sz="1500" dirty="0">
                <a:solidFill>
                  <a:srgbClr val="222222"/>
                </a:solidFill>
                <a:highlight>
                  <a:srgbClr val="A9BD58"/>
                </a:highlight>
                <a:latin typeface="Roboto"/>
                <a:ea typeface="Roboto"/>
                <a:cs typeface="Roboto"/>
                <a:sym typeface="Roboto"/>
              </a:rPr>
              <a:t> </a:t>
            </a:r>
            <a:r>
              <a:rPr lang="en-US" sz="1500" dirty="0" err="1">
                <a:solidFill>
                  <a:srgbClr val="222222"/>
                </a:solidFill>
                <a:highlight>
                  <a:srgbClr val="A9BD58"/>
                </a:highlight>
                <a:latin typeface="Roboto"/>
                <a:ea typeface="Roboto"/>
                <a:cs typeface="Roboto"/>
                <a:sym typeface="Roboto"/>
              </a:rPr>
              <a:t>Alkuzweny</a:t>
            </a:r>
            <a:r>
              <a:rPr lang="en-US" sz="1500" dirty="0">
                <a:solidFill>
                  <a:srgbClr val="222222"/>
                </a:solidFill>
                <a:highlight>
                  <a:srgbClr val="A9BD58"/>
                </a:highlight>
                <a:latin typeface="Roboto"/>
                <a:ea typeface="Roboto"/>
                <a:cs typeface="Roboto"/>
                <a:sym typeface="Roboto"/>
              </a:rPr>
              <a:t>, Emory </a:t>
            </a:r>
            <a:r>
              <a:rPr lang="en-US" sz="1500" dirty="0" err="1">
                <a:solidFill>
                  <a:srgbClr val="222222"/>
                </a:solidFill>
                <a:highlight>
                  <a:srgbClr val="A9BD58"/>
                </a:highlight>
                <a:latin typeface="Roboto"/>
                <a:ea typeface="Roboto"/>
                <a:cs typeface="Roboto"/>
                <a:sym typeface="Roboto"/>
              </a:rPr>
              <a:t>Hufbauer</a:t>
            </a:r>
            <a:r>
              <a:rPr lang="en-US" sz="1500" dirty="0">
                <a:solidFill>
                  <a:srgbClr val="222222"/>
                </a:solidFill>
                <a:highlight>
                  <a:srgbClr val="A9BD58"/>
                </a:highlight>
                <a:latin typeface="Roboto"/>
                <a:ea typeface="Roboto"/>
                <a:cs typeface="Roboto"/>
                <a:sym typeface="Roboto"/>
              </a:rPr>
              <a:t>, Ginger </a:t>
            </a:r>
            <a:r>
              <a:rPr lang="en-US" sz="1500" dirty="0" err="1">
                <a:solidFill>
                  <a:srgbClr val="222222"/>
                </a:solidFill>
                <a:highlight>
                  <a:srgbClr val="A9BD58"/>
                </a:highlight>
                <a:latin typeface="Roboto"/>
                <a:ea typeface="Roboto"/>
                <a:cs typeface="Roboto"/>
                <a:sym typeface="Roboto"/>
              </a:rPr>
              <a:t>Tsueng</a:t>
            </a:r>
            <a:r>
              <a:rPr lang="en-US" sz="1500" dirty="0">
                <a:solidFill>
                  <a:srgbClr val="222222"/>
                </a:solidFill>
                <a:highlight>
                  <a:srgbClr val="A9BD58"/>
                </a:highlight>
                <a:latin typeface="Roboto"/>
                <a:ea typeface="Roboto"/>
                <a:cs typeface="Roboto"/>
                <a:sym typeface="Roboto"/>
              </a:rPr>
              <a:t>, Emily Haag et al. "Outbreak. info genomic reports: scalable and dynamic surveillance of SARS-CoV-2 variants and mutations." </a:t>
            </a:r>
            <a:r>
              <a:rPr lang="en-US" sz="1500" i="1" dirty="0" err="1">
                <a:solidFill>
                  <a:srgbClr val="222222"/>
                </a:solidFill>
                <a:highlight>
                  <a:srgbClr val="A9BD58"/>
                </a:highlight>
                <a:latin typeface="Roboto"/>
                <a:ea typeface="Roboto"/>
                <a:cs typeface="Roboto"/>
                <a:sym typeface="Roboto"/>
              </a:rPr>
              <a:t>medRxiv</a:t>
            </a:r>
            <a:r>
              <a:rPr lang="en-US" sz="1500" dirty="0">
                <a:solidFill>
                  <a:srgbClr val="222222"/>
                </a:solidFill>
                <a:highlight>
                  <a:srgbClr val="A9BD58"/>
                </a:highlight>
                <a:latin typeface="Roboto"/>
                <a:ea typeface="Roboto"/>
                <a:cs typeface="Roboto"/>
                <a:sym typeface="Roboto"/>
              </a:rPr>
              <a:t> (2022).</a:t>
            </a:r>
            <a:endParaRPr lang="en-US" sz="1500" dirty="0">
              <a:solidFill>
                <a:schemeClr val="dk1"/>
              </a:solidFill>
              <a:highlight>
                <a:srgbClr val="A9BD58"/>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lang="en-US" sz="1500" dirty="0">
              <a:solidFill>
                <a:srgbClr val="222222"/>
              </a:solidFill>
              <a:highlight>
                <a:srgbClr val="A9BD58"/>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500" b="1" u="sng" dirty="0">
                <a:solidFill>
                  <a:schemeClr val="dk1"/>
                </a:solidFill>
                <a:highlight>
                  <a:srgbClr val="A9BD58"/>
                </a:highlight>
                <a:latin typeface="Roboto"/>
                <a:ea typeface="Roboto"/>
                <a:cs typeface="Roboto"/>
                <a:sym typeface="Roboto"/>
              </a:rPr>
              <a:t>Similar tools:</a:t>
            </a:r>
            <a:endParaRPr sz="1500" b="1" u="sng" dirty="0">
              <a:solidFill>
                <a:schemeClr val="dk1"/>
              </a:solidFill>
              <a:highlight>
                <a:srgbClr val="A9BD58"/>
              </a:highlight>
              <a:latin typeface="Roboto"/>
              <a:ea typeface="Roboto"/>
              <a:cs typeface="Roboto"/>
              <a:sym typeface="Roboto"/>
            </a:endParaRPr>
          </a:p>
          <a:p>
            <a:pPr marL="457200" lvl="0" indent="-323850" algn="l" rtl="0">
              <a:lnSpc>
                <a:spcPct val="115000"/>
              </a:lnSpc>
              <a:spcBef>
                <a:spcPts val="0"/>
              </a:spcBef>
              <a:spcAft>
                <a:spcPts val="0"/>
              </a:spcAft>
              <a:buClr>
                <a:srgbClr val="212529"/>
              </a:buClr>
              <a:buSzPts val="1500"/>
              <a:buFont typeface="Roboto"/>
              <a:buAutoNum type="arabicPeriod"/>
            </a:pPr>
            <a:r>
              <a:rPr lang="en-US" sz="1500" dirty="0" err="1">
                <a:solidFill>
                  <a:srgbClr val="212529"/>
                </a:solidFill>
                <a:highlight>
                  <a:srgbClr val="A9BD58"/>
                </a:highlight>
                <a:latin typeface="Roboto"/>
                <a:ea typeface="Roboto"/>
                <a:cs typeface="Roboto"/>
                <a:sym typeface="Roboto"/>
              </a:rPr>
              <a:t>CoVarients</a:t>
            </a:r>
            <a:r>
              <a:rPr lang="en-US" sz="1500" dirty="0">
                <a:solidFill>
                  <a:srgbClr val="212529"/>
                </a:solidFill>
                <a:highlight>
                  <a:srgbClr val="A9BD58"/>
                </a:highlight>
                <a:latin typeface="Roboto"/>
                <a:ea typeface="Roboto"/>
                <a:cs typeface="Roboto"/>
                <a:sym typeface="Roboto"/>
              </a:rPr>
              <a:t>:</a:t>
            </a:r>
            <a:endParaRPr sz="1500" dirty="0">
              <a:solidFill>
                <a:srgbClr val="212529"/>
              </a:solidFill>
              <a:highlight>
                <a:srgbClr val="A9BD58"/>
              </a:highlight>
              <a:latin typeface="Roboto"/>
              <a:ea typeface="Roboto"/>
              <a:cs typeface="Roboto"/>
              <a:sym typeface="Roboto"/>
            </a:endParaRPr>
          </a:p>
          <a:p>
            <a:pPr marL="457200" lvl="0" indent="0" algn="l" rtl="0">
              <a:lnSpc>
                <a:spcPct val="115000"/>
              </a:lnSpc>
              <a:spcBef>
                <a:spcPts val="0"/>
              </a:spcBef>
              <a:spcAft>
                <a:spcPts val="0"/>
              </a:spcAft>
              <a:buClr>
                <a:schemeClr val="dk1"/>
              </a:buClr>
              <a:buSzPts val="1100"/>
              <a:buFont typeface="Arial"/>
              <a:buNone/>
            </a:pPr>
            <a:r>
              <a:rPr lang="en-US" sz="1500" dirty="0">
                <a:solidFill>
                  <a:srgbClr val="212529"/>
                </a:solidFill>
                <a:highlight>
                  <a:srgbClr val="A9BD58"/>
                </a:highlight>
                <a:latin typeface="Roboto"/>
                <a:ea typeface="Roboto"/>
                <a:cs typeface="Roboto"/>
                <a:sym typeface="Roboto"/>
              </a:rPr>
              <a:t>Emma B. </a:t>
            </a:r>
            <a:r>
              <a:rPr lang="en-US" sz="1500" dirty="0" err="1">
                <a:solidFill>
                  <a:srgbClr val="212529"/>
                </a:solidFill>
                <a:highlight>
                  <a:srgbClr val="A9BD58"/>
                </a:highlight>
                <a:latin typeface="Roboto"/>
                <a:ea typeface="Roboto"/>
                <a:cs typeface="Roboto"/>
                <a:sym typeface="Roboto"/>
              </a:rPr>
              <a:t>Hodcroft</a:t>
            </a:r>
            <a:r>
              <a:rPr lang="en-US" sz="1500" dirty="0">
                <a:solidFill>
                  <a:srgbClr val="212529"/>
                </a:solidFill>
                <a:highlight>
                  <a:srgbClr val="A9BD58"/>
                </a:highlight>
                <a:latin typeface="Roboto"/>
                <a:ea typeface="Roboto"/>
                <a:cs typeface="Roboto"/>
                <a:sym typeface="Roboto"/>
              </a:rPr>
              <a:t>. 2021. "</a:t>
            </a:r>
            <a:r>
              <a:rPr lang="en-US" sz="1500" dirty="0" err="1">
                <a:solidFill>
                  <a:srgbClr val="212529"/>
                </a:solidFill>
                <a:highlight>
                  <a:srgbClr val="A9BD58"/>
                </a:highlight>
                <a:latin typeface="Roboto"/>
                <a:ea typeface="Roboto"/>
                <a:cs typeface="Roboto"/>
                <a:sym typeface="Roboto"/>
              </a:rPr>
              <a:t>CoVariants</a:t>
            </a:r>
            <a:r>
              <a:rPr lang="en-US" sz="1500" dirty="0">
                <a:solidFill>
                  <a:srgbClr val="212529"/>
                </a:solidFill>
                <a:highlight>
                  <a:srgbClr val="A9BD58"/>
                </a:highlight>
                <a:latin typeface="Roboto"/>
                <a:ea typeface="Roboto"/>
                <a:cs typeface="Roboto"/>
                <a:sym typeface="Roboto"/>
              </a:rPr>
              <a:t>: SARS-CoV-2 Mutations and Variants of Interest." https://</a:t>
            </a:r>
            <a:r>
              <a:rPr lang="en-US" sz="1500" dirty="0" err="1">
                <a:solidFill>
                  <a:srgbClr val="212529"/>
                </a:solidFill>
                <a:highlight>
                  <a:srgbClr val="A9BD58"/>
                </a:highlight>
                <a:latin typeface="Roboto"/>
                <a:ea typeface="Roboto"/>
                <a:cs typeface="Roboto"/>
                <a:sym typeface="Roboto"/>
              </a:rPr>
              <a:t>covariants.org</a:t>
            </a:r>
            <a:r>
              <a:rPr lang="en-US" sz="1500" dirty="0">
                <a:solidFill>
                  <a:srgbClr val="212529"/>
                </a:solidFill>
                <a:highlight>
                  <a:srgbClr val="A9BD58"/>
                </a:highlight>
                <a:latin typeface="Roboto"/>
                <a:ea typeface="Roboto"/>
                <a:cs typeface="Roboto"/>
                <a:sym typeface="Roboto"/>
              </a:rPr>
              <a:t>/</a:t>
            </a:r>
            <a:endParaRPr sz="1500" dirty="0">
              <a:solidFill>
                <a:schemeClr val="dk1"/>
              </a:solidFill>
              <a:highlight>
                <a:srgbClr val="A9BD58"/>
              </a:highlight>
              <a:latin typeface="Roboto"/>
              <a:ea typeface="Roboto"/>
              <a:cs typeface="Roboto"/>
              <a:sym typeface="Roboto"/>
            </a:endParaRPr>
          </a:p>
          <a:p>
            <a:pPr marL="457200" lvl="0" indent="-323850" algn="l" rtl="0">
              <a:lnSpc>
                <a:spcPct val="115000"/>
              </a:lnSpc>
              <a:spcBef>
                <a:spcPts val="0"/>
              </a:spcBef>
              <a:spcAft>
                <a:spcPts val="0"/>
              </a:spcAft>
              <a:buClr>
                <a:schemeClr val="dk1"/>
              </a:buClr>
              <a:buSzPts val="1500"/>
              <a:buFont typeface="Roboto"/>
              <a:buAutoNum type="arabicPeriod"/>
            </a:pPr>
            <a:r>
              <a:rPr lang="en-US" sz="1500" dirty="0" err="1">
                <a:solidFill>
                  <a:schemeClr val="dk1"/>
                </a:solidFill>
                <a:highlight>
                  <a:srgbClr val="A9BD58"/>
                </a:highlight>
                <a:latin typeface="Roboto"/>
                <a:ea typeface="Roboto"/>
                <a:cs typeface="Roboto"/>
                <a:sym typeface="Roboto"/>
              </a:rPr>
              <a:t>Nextstrain</a:t>
            </a:r>
            <a:r>
              <a:rPr lang="en-US" sz="1500" dirty="0">
                <a:solidFill>
                  <a:schemeClr val="dk1"/>
                </a:solidFill>
                <a:highlight>
                  <a:srgbClr val="A9BD58"/>
                </a:highlight>
                <a:latin typeface="Roboto"/>
                <a:ea typeface="Roboto"/>
                <a:cs typeface="Roboto"/>
                <a:sym typeface="Roboto"/>
              </a:rPr>
              <a:t>: </a:t>
            </a:r>
            <a:endParaRPr sz="1500" dirty="0">
              <a:solidFill>
                <a:schemeClr val="dk1"/>
              </a:solidFill>
              <a:highlight>
                <a:srgbClr val="A9BD58"/>
              </a:highlight>
              <a:latin typeface="Roboto"/>
              <a:ea typeface="Roboto"/>
              <a:cs typeface="Roboto"/>
              <a:sym typeface="Roboto"/>
            </a:endParaRPr>
          </a:p>
          <a:p>
            <a:pPr marL="457200" lvl="0" indent="0" algn="l" rtl="0">
              <a:lnSpc>
                <a:spcPct val="115000"/>
              </a:lnSpc>
              <a:spcBef>
                <a:spcPts val="0"/>
              </a:spcBef>
              <a:spcAft>
                <a:spcPts val="0"/>
              </a:spcAft>
              <a:buClr>
                <a:schemeClr val="dk1"/>
              </a:buClr>
              <a:buSzPts val="1100"/>
              <a:buFont typeface="Arial"/>
              <a:buNone/>
            </a:pPr>
            <a:r>
              <a:rPr lang="en-US" sz="1500" dirty="0">
                <a:solidFill>
                  <a:srgbClr val="24292E"/>
                </a:solidFill>
                <a:highlight>
                  <a:srgbClr val="A9BD58"/>
                </a:highlight>
                <a:latin typeface="Roboto"/>
                <a:ea typeface="Roboto"/>
                <a:cs typeface="Roboto"/>
                <a:sym typeface="Roboto"/>
              </a:rPr>
              <a:t>Hadfield </a:t>
            </a:r>
            <a:r>
              <a:rPr lang="en-US" sz="1500" i="1" dirty="0">
                <a:solidFill>
                  <a:srgbClr val="24292E"/>
                </a:solidFill>
                <a:highlight>
                  <a:srgbClr val="A9BD58"/>
                </a:highlight>
                <a:latin typeface="Roboto"/>
                <a:ea typeface="Roboto"/>
                <a:cs typeface="Roboto"/>
                <a:sym typeface="Roboto"/>
              </a:rPr>
              <a:t>et al.,</a:t>
            </a:r>
            <a:r>
              <a:rPr lang="en-US" sz="1500" dirty="0">
                <a:solidFill>
                  <a:srgbClr val="24292E"/>
                </a:solidFill>
                <a:highlight>
                  <a:srgbClr val="A9BD58"/>
                </a:highlight>
                <a:latin typeface="Roboto"/>
                <a:ea typeface="Roboto"/>
                <a:cs typeface="Roboto"/>
                <a:sym typeface="Roboto"/>
              </a:rPr>
              <a:t> </a:t>
            </a:r>
            <a:r>
              <a:rPr lang="en-US" sz="1500" dirty="0" err="1">
                <a:solidFill>
                  <a:srgbClr val="24292E"/>
                </a:solidFill>
                <a:highlight>
                  <a:srgbClr val="A9BD58"/>
                </a:highlight>
                <a:latin typeface="Roboto"/>
                <a:ea typeface="Roboto"/>
                <a:cs typeface="Roboto"/>
                <a:sym typeface="Roboto"/>
              </a:rPr>
              <a:t>Nextstrain</a:t>
            </a:r>
            <a:r>
              <a:rPr lang="en-US" sz="1500" dirty="0">
                <a:solidFill>
                  <a:srgbClr val="24292E"/>
                </a:solidFill>
                <a:highlight>
                  <a:srgbClr val="A9BD58"/>
                </a:highlight>
                <a:latin typeface="Roboto"/>
                <a:ea typeface="Roboto"/>
                <a:cs typeface="Roboto"/>
                <a:sym typeface="Roboto"/>
              </a:rPr>
              <a:t>: real-time tracking of pathogen evolution</a:t>
            </a:r>
            <a:r>
              <a:rPr lang="en-US" sz="1500" i="1" dirty="0">
                <a:solidFill>
                  <a:srgbClr val="24292E"/>
                </a:solidFill>
                <a:highlight>
                  <a:srgbClr val="A9BD58"/>
                </a:highlight>
                <a:latin typeface="Roboto"/>
                <a:ea typeface="Roboto"/>
                <a:cs typeface="Roboto"/>
                <a:sym typeface="Roboto"/>
              </a:rPr>
              <a:t>, Bioinformatics</a:t>
            </a:r>
            <a:r>
              <a:rPr lang="en-US" sz="1500" dirty="0">
                <a:solidFill>
                  <a:srgbClr val="24292E"/>
                </a:solidFill>
                <a:highlight>
                  <a:srgbClr val="A9BD58"/>
                </a:highlight>
                <a:latin typeface="Roboto"/>
                <a:ea typeface="Roboto"/>
                <a:cs typeface="Roboto"/>
                <a:sym typeface="Roboto"/>
              </a:rPr>
              <a:t> (2018)</a:t>
            </a:r>
            <a:endParaRPr sz="1500" dirty="0">
              <a:solidFill>
                <a:srgbClr val="24292E"/>
              </a:solidFill>
              <a:highlight>
                <a:srgbClr val="A9BD58"/>
              </a:highlight>
              <a:latin typeface="Roboto"/>
              <a:ea typeface="Roboto"/>
              <a:cs typeface="Roboto"/>
              <a:sym typeface="Roboto"/>
            </a:endParaRPr>
          </a:p>
          <a:p>
            <a:pPr marL="457200" lvl="0" indent="-323850" algn="l" rtl="0">
              <a:lnSpc>
                <a:spcPct val="115000"/>
              </a:lnSpc>
              <a:spcBef>
                <a:spcPts val="0"/>
              </a:spcBef>
              <a:spcAft>
                <a:spcPts val="0"/>
              </a:spcAft>
              <a:buClr>
                <a:srgbClr val="24292E"/>
              </a:buClr>
              <a:buSzPts val="1500"/>
              <a:buFont typeface="Roboto"/>
              <a:buAutoNum type="arabicPeriod"/>
            </a:pPr>
            <a:r>
              <a:rPr lang="en-US" sz="1500" dirty="0" err="1">
                <a:solidFill>
                  <a:srgbClr val="24292E"/>
                </a:solidFill>
                <a:highlight>
                  <a:srgbClr val="A9BD58"/>
                </a:highlight>
                <a:latin typeface="Roboto"/>
                <a:ea typeface="Roboto"/>
                <a:cs typeface="Roboto"/>
                <a:sym typeface="Roboto"/>
              </a:rPr>
              <a:t>Microreact</a:t>
            </a:r>
            <a:r>
              <a:rPr lang="en-US" sz="1500" dirty="0">
                <a:solidFill>
                  <a:srgbClr val="24292E"/>
                </a:solidFill>
                <a:highlight>
                  <a:srgbClr val="A9BD58"/>
                </a:highlight>
                <a:latin typeface="Roboto"/>
                <a:ea typeface="Roboto"/>
                <a:cs typeface="Roboto"/>
                <a:sym typeface="Roboto"/>
              </a:rPr>
              <a:t>:</a:t>
            </a:r>
            <a:endParaRPr sz="1500" dirty="0">
              <a:solidFill>
                <a:srgbClr val="24292E"/>
              </a:solidFill>
              <a:highlight>
                <a:srgbClr val="A9BD58"/>
              </a:highlight>
              <a:latin typeface="Roboto"/>
              <a:ea typeface="Roboto"/>
              <a:cs typeface="Roboto"/>
              <a:sym typeface="Roboto"/>
            </a:endParaRPr>
          </a:p>
          <a:p>
            <a:pPr marL="457200" lvl="0" indent="0" algn="l" rtl="0">
              <a:lnSpc>
                <a:spcPct val="115000"/>
              </a:lnSpc>
              <a:spcBef>
                <a:spcPts val="0"/>
              </a:spcBef>
              <a:spcAft>
                <a:spcPts val="0"/>
              </a:spcAft>
              <a:buClr>
                <a:schemeClr val="dk1"/>
              </a:buClr>
              <a:buSzPts val="1100"/>
              <a:buFont typeface="Arial"/>
              <a:buNone/>
            </a:pPr>
            <a:r>
              <a:rPr lang="en-US" sz="1500" dirty="0" err="1">
                <a:solidFill>
                  <a:srgbClr val="222222"/>
                </a:solidFill>
                <a:highlight>
                  <a:srgbClr val="A9BD58"/>
                </a:highlight>
                <a:latin typeface="Roboto"/>
                <a:ea typeface="Roboto"/>
                <a:cs typeface="Roboto"/>
                <a:sym typeface="Roboto"/>
              </a:rPr>
              <a:t>Argimón</a:t>
            </a:r>
            <a:r>
              <a:rPr lang="en-US" sz="1500" dirty="0">
                <a:solidFill>
                  <a:srgbClr val="222222"/>
                </a:solidFill>
                <a:highlight>
                  <a:srgbClr val="A9BD58"/>
                </a:highlight>
                <a:latin typeface="Roboto"/>
                <a:ea typeface="Roboto"/>
                <a:cs typeface="Roboto"/>
                <a:sym typeface="Roboto"/>
              </a:rPr>
              <a:t>, Silvia, Khalil </a:t>
            </a:r>
            <a:r>
              <a:rPr lang="en-US" sz="1500" dirty="0" err="1">
                <a:solidFill>
                  <a:srgbClr val="222222"/>
                </a:solidFill>
                <a:highlight>
                  <a:srgbClr val="A9BD58"/>
                </a:highlight>
                <a:latin typeface="Roboto"/>
                <a:ea typeface="Roboto"/>
                <a:cs typeface="Roboto"/>
                <a:sym typeface="Roboto"/>
              </a:rPr>
              <a:t>Abudahab</a:t>
            </a:r>
            <a:r>
              <a:rPr lang="en-US" sz="1500" dirty="0">
                <a:solidFill>
                  <a:srgbClr val="222222"/>
                </a:solidFill>
                <a:highlight>
                  <a:srgbClr val="A9BD58"/>
                </a:highlight>
                <a:latin typeface="Roboto"/>
                <a:ea typeface="Roboto"/>
                <a:cs typeface="Roboto"/>
                <a:sym typeface="Roboto"/>
              </a:rPr>
              <a:t>, Richard JE </a:t>
            </a:r>
            <a:r>
              <a:rPr lang="en-US" sz="1500" dirty="0" err="1">
                <a:solidFill>
                  <a:srgbClr val="222222"/>
                </a:solidFill>
                <a:highlight>
                  <a:srgbClr val="A9BD58"/>
                </a:highlight>
                <a:latin typeface="Roboto"/>
                <a:ea typeface="Roboto"/>
                <a:cs typeface="Roboto"/>
                <a:sym typeface="Roboto"/>
              </a:rPr>
              <a:t>Goater</a:t>
            </a:r>
            <a:r>
              <a:rPr lang="en-US" sz="1500" dirty="0">
                <a:solidFill>
                  <a:srgbClr val="222222"/>
                </a:solidFill>
                <a:highlight>
                  <a:srgbClr val="A9BD58"/>
                </a:highlight>
                <a:latin typeface="Roboto"/>
                <a:ea typeface="Roboto"/>
                <a:cs typeface="Roboto"/>
                <a:sym typeface="Roboto"/>
              </a:rPr>
              <a:t>, </a:t>
            </a:r>
            <a:r>
              <a:rPr lang="en-US" sz="1500" dirty="0" err="1">
                <a:solidFill>
                  <a:srgbClr val="222222"/>
                </a:solidFill>
                <a:highlight>
                  <a:srgbClr val="A9BD58"/>
                </a:highlight>
                <a:latin typeface="Roboto"/>
                <a:ea typeface="Roboto"/>
                <a:cs typeface="Roboto"/>
                <a:sym typeface="Roboto"/>
              </a:rPr>
              <a:t>Artemij</a:t>
            </a:r>
            <a:r>
              <a:rPr lang="en-US" sz="1500" dirty="0">
                <a:solidFill>
                  <a:srgbClr val="222222"/>
                </a:solidFill>
                <a:highlight>
                  <a:srgbClr val="A9BD58"/>
                </a:highlight>
                <a:latin typeface="Roboto"/>
                <a:ea typeface="Roboto"/>
                <a:cs typeface="Roboto"/>
                <a:sym typeface="Roboto"/>
              </a:rPr>
              <a:t> </a:t>
            </a:r>
            <a:r>
              <a:rPr lang="en-US" sz="1500" dirty="0" err="1">
                <a:solidFill>
                  <a:srgbClr val="222222"/>
                </a:solidFill>
                <a:highlight>
                  <a:srgbClr val="A9BD58"/>
                </a:highlight>
                <a:latin typeface="Roboto"/>
                <a:ea typeface="Roboto"/>
                <a:cs typeface="Roboto"/>
                <a:sym typeface="Roboto"/>
              </a:rPr>
              <a:t>Fedosejev</a:t>
            </a:r>
            <a:r>
              <a:rPr lang="en-US" sz="1500" dirty="0">
                <a:solidFill>
                  <a:srgbClr val="222222"/>
                </a:solidFill>
                <a:highlight>
                  <a:srgbClr val="A9BD58"/>
                </a:highlight>
                <a:latin typeface="Roboto"/>
                <a:ea typeface="Roboto"/>
                <a:cs typeface="Roboto"/>
                <a:sym typeface="Roboto"/>
              </a:rPr>
              <a:t>, </a:t>
            </a:r>
            <a:r>
              <a:rPr lang="en-US" sz="1500" dirty="0" err="1">
                <a:solidFill>
                  <a:srgbClr val="222222"/>
                </a:solidFill>
                <a:highlight>
                  <a:srgbClr val="A9BD58"/>
                </a:highlight>
                <a:latin typeface="Roboto"/>
                <a:ea typeface="Roboto"/>
                <a:cs typeface="Roboto"/>
                <a:sym typeface="Roboto"/>
              </a:rPr>
              <a:t>Jyothish</a:t>
            </a:r>
            <a:r>
              <a:rPr lang="en-US" sz="1500" dirty="0">
                <a:solidFill>
                  <a:srgbClr val="222222"/>
                </a:solidFill>
                <a:highlight>
                  <a:srgbClr val="A9BD58"/>
                </a:highlight>
                <a:latin typeface="Roboto"/>
                <a:ea typeface="Roboto"/>
                <a:cs typeface="Roboto"/>
                <a:sym typeface="Roboto"/>
              </a:rPr>
              <a:t> Bhai, Corinna </a:t>
            </a:r>
            <a:r>
              <a:rPr lang="en-US" sz="1500" dirty="0" err="1">
                <a:solidFill>
                  <a:srgbClr val="222222"/>
                </a:solidFill>
                <a:highlight>
                  <a:srgbClr val="A9BD58"/>
                </a:highlight>
                <a:latin typeface="Roboto"/>
                <a:ea typeface="Roboto"/>
                <a:cs typeface="Roboto"/>
                <a:sym typeface="Roboto"/>
              </a:rPr>
              <a:t>Glasner</a:t>
            </a:r>
            <a:r>
              <a:rPr lang="en-US" sz="1500" dirty="0">
                <a:solidFill>
                  <a:srgbClr val="222222"/>
                </a:solidFill>
                <a:highlight>
                  <a:srgbClr val="A9BD58"/>
                </a:highlight>
                <a:latin typeface="Roboto"/>
                <a:ea typeface="Roboto"/>
                <a:cs typeface="Roboto"/>
                <a:sym typeface="Roboto"/>
              </a:rPr>
              <a:t>, Edward J. Feil et al. "</a:t>
            </a:r>
            <a:r>
              <a:rPr lang="en-US" sz="1500" dirty="0" err="1">
                <a:solidFill>
                  <a:srgbClr val="222222"/>
                </a:solidFill>
                <a:highlight>
                  <a:srgbClr val="A9BD58"/>
                </a:highlight>
                <a:latin typeface="Roboto"/>
                <a:ea typeface="Roboto"/>
                <a:cs typeface="Roboto"/>
                <a:sym typeface="Roboto"/>
              </a:rPr>
              <a:t>Microreact</a:t>
            </a:r>
            <a:r>
              <a:rPr lang="en-US" sz="1500" dirty="0">
                <a:solidFill>
                  <a:srgbClr val="222222"/>
                </a:solidFill>
                <a:highlight>
                  <a:srgbClr val="A9BD58"/>
                </a:highlight>
                <a:latin typeface="Roboto"/>
                <a:ea typeface="Roboto"/>
                <a:cs typeface="Roboto"/>
                <a:sym typeface="Roboto"/>
              </a:rPr>
              <a:t>: visualizing and sharing data for genomic epidemiology and </a:t>
            </a:r>
            <a:r>
              <a:rPr lang="en-US" sz="1500" dirty="0" err="1">
                <a:solidFill>
                  <a:srgbClr val="222222"/>
                </a:solidFill>
                <a:highlight>
                  <a:srgbClr val="A9BD58"/>
                </a:highlight>
                <a:latin typeface="Roboto"/>
                <a:ea typeface="Roboto"/>
                <a:cs typeface="Roboto"/>
                <a:sym typeface="Roboto"/>
              </a:rPr>
              <a:t>phylogeography</a:t>
            </a:r>
            <a:r>
              <a:rPr lang="en-US" sz="1500" dirty="0">
                <a:solidFill>
                  <a:srgbClr val="222222"/>
                </a:solidFill>
                <a:highlight>
                  <a:srgbClr val="A9BD58"/>
                </a:highlight>
                <a:latin typeface="Roboto"/>
                <a:ea typeface="Roboto"/>
                <a:cs typeface="Roboto"/>
                <a:sym typeface="Roboto"/>
              </a:rPr>
              <a:t>." </a:t>
            </a:r>
            <a:r>
              <a:rPr lang="en-US" sz="1500" i="1" dirty="0">
                <a:solidFill>
                  <a:srgbClr val="222222"/>
                </a:solidFill>
                <a:highlight>
                  <a:srgbClr val="A9BD58"/>
                </a:highlight>
                <a:latin typeface="Roboto"/>
                <a:ea typeface="Roboto"/>
                <a:cs typeface="Roboto"/>
                <a:sym typeface="Roboto"/>
              </a:rPr>
              <a:t>Microbial genomics</a:t>
            </a:r>
            <a:r>
              <a:rPr lang="en-US" sz="1500" dirty="0">
                <a:solidFill>
                  <a:srgbClr val="222222"/>
                </a:solidFill>
                <a:highlight>
                  <a:srgbClr val="A9BD58"/>
                </a:highlight>
                <a:latin typeface="Roboto"/>
                <a:ea typeface="Roboto"/>
                <a:cs typeface="Roboto"/>
                <a:sym typeface="Roboto"/>
              </a:rPr>
              <a:t> 2, no. 11 (2016).</a:t>
            </a:r>
            <a:endParaRPr sz="1500" dirty="0">
              <a:solidFill>
                <a:srgbClr val="24292E"/>
              </a:solidFill>
              <a:highlight>
                <a:srgbClr val="A9BD58"/>
              </a:highlight>
              <a:latin typeface="Roboto"/>
              <a:ea typeface="Roboto"/>
              <a:cs typeface="Roboto"/>
              <a:sym typeface="Roboto"/>
            </a:endParaRPr>
          </a:p>
          <a:p>
            <a:pPr marL="914400" lvl="0" indent="0" algn="l" rtl="0">
              <a:lnSpc>
                <a:spcPct val="115000"/>
              </a:lnSpc>
              <a:spcBef>
                <a:spcPts val="0"/>
              </a:spcBef>
              <a:spcAft>
                <a:spcPts val="0"/>
              </a:spcAft>
              <a:buClr>
                <a:schemeClr val="dk1"/>
              </a:buClr>
              <a:buSzPts val="1100"/>
              <a:buFont typeface="Arial"/>
              <a:buNone/>
            </a:pPr>
            <a:endParaRPr sz="1500" dirty="0">
              <a:solidFill>
                <a:schemeClr val="dk1"/>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1500" dirty="0">
              <a:solidFill>
                <a:schemeClr val="dk1"/>
              </a:solidFill>
              <a:latin typeface="Roboto"/>
              <a:ea typeface="Roboto"/>
              <a:cs typeface="Roboto"/>
              <a:sym typeface="Roboto"/>
            </a:endParaRPr>
          </a:p>
        </p:txBody>
      </p:sp>
      <p:sp>
        <p:nvSpPr>
          <p:cNvPr id="54" name="Google Shape;54;p4"/>
          <p:cNvSpPr txBox="1"/>
          <p:nvPr/>
        </p:nvSpPr>
        <p:spPr>
          <a:xfrm>
            <a:off x="33760850" y="25085679"/>
            <a:ext cx="9190800" cy="1913100"/>
          </a:xfrm>
          <a:prstGeom prst="rect">
            <a:avLst/>
          </a:prstGeom>
          <a:solidFill>
            <a:srgbClr val="A9BD58"/>
          </a:solidFill>
          <a:ln w="19050" cap="flat" cmpd="sng">
            <a:solidFill>
              <a:schemeClr val="dk1"/>
            </a:solidFill>
            <a:prstDash val="solid"/>
            <a:round/>
            <a:headEnd type="none" w="sm" len="sm"/>
            <a:tailEnd type="none" w="sm" len="sm"/>
          </a:ln>
        </p:spPr>
        <p:txBody>
          <a:bodyPr spcFirstLastPara="1" wrap="square" lIns="274300" tIns="91425" rIns="274300" bIns="91425" anchor="ctr" anchorCtr="0">
            <a:normAutofit/>
          </a:bodyPr>
          <a:lstStyle/>
          <a:p>
            <a:pPr marL="0" lvl="0" indent="0" algn="l" rtl="0">
              <a:spcBef>
                <a:spcPts val="0"/>
              </a:spcBef>
              <a:spcAft>
                <a:spcPts val="0"/>
              </a:spcAft>
              <a:buNone/>
            </a:pPr>
            <a:r>
              <a:rPr lang="en-US" sz="2300" dirty="0">
                <a:latin typeface="Roboto"/>
                <a:ea typeface="Roboto"/>
                <a:cs typeface="Roboto"/>
                <a:sym typeface="Roboto"/>
              </a:rPr>
              <a:t>Special thanks to </a:t>
            </a:r>
            <a:r>
              <a:rPr lang="en-US" sz="2300" dirty="0">
                <a:solidFill>
                  <a:schemeClr val="dk1"/>
                </a:solidFill>
                <a:latin typeface="Roboto"/>
                <a:ea typeface="Roboto"/>
                <a:cs typeface="Roboto"/>
                <a:sym typeface="Roboto"/>
              </a:rPr>
              <a:t>my mentor Chrissy Aceves and Emory </a:t>
            </a:r>
            <a:r>
              <a:rPr lang="en-US" sz="2300" dirty="0" err="1">
                <a:solidFill>
                  <a:schemeClr val="dk1"/>
                </a:solidFill>
                <a:latin typeface="Roboto"/>
                <a:ea typeface="Roboto"/>
                <a:cs typeface="Roboto"/>
                <a:sym typeface="Roboto"/>
              </a:rPr>
              <a:t>Hufbauer</a:t>
            </a:r>
            <a:r>
              <a:rPr lang="en-US" sz="2300" dirty="0">
                <a:solidFill>
                  <a:schemeClr val="dk1"/>
                </a:solidFill>
                <a:latin typeface="Roboto"/>
                <a:ea typeface="Roboto"/>
                <a:cs typeface="Roboto"/>
                <a:sym typeface="Roboto"/>
              </a:rPr>
              <a:t> for helping me with this project. Thank you to </a:t>
            </a:r>
            <a:r>
              <a:rPr lang="en-US" sz="2300" dirty="0">
                <a:latin typeface="Roboto"/>
                <a:ea typeface="Roboto"/>
                <a:cs typeface="Roboto"/>
                <a:sym typeface="Roboto"/>
              </a:rPr>
              <a:t>everyone in the Andersen Lab, </a:t>
            </a:r>
            <a:r>
              <a:rPr lang="en-US" sz="2300" dirty="0" err="1">
                <a:latin typeface="Roboto"/>
                <a:ea typeface="Roboto"/>
                <a:cs typeface="Roboto"/>
                <a:sym typeface="Roboto"/>
              </a:rPr>
              <a:t>Su</a:t>
            </a:r>
            <a:r>
              <a:rPr lang="en-US" sz="2300" dirty="0">
                <a:latin typeface="Roboto"/>
                <a:ea typeface="Roboto"/>
                <a:cs typeface="Roboto"/>
                <a:sym typeface="Roboto"/>
              </a:rPr>
              <a:t> Lab and Wu Lab for making </a:t>
            </a:r>
            <a:r>
              <a:rPr lang="en-US" sz="2300" dirty="0" err="1">
                <a:latin typeface="Roboto"/>
                <a:ea typeface="Roboto"/>
                <a:cs typeface="Roboto"/>
                <a:sym typeface="Roboto"/>
              </a:rPr>
              <a:t>Outbreak.info</a:t>
            </a:r>
            <a:r>
              <a:rPr lang="en-US" sz="2300" dirty="0">
                <a:latin typeface="Roboto"/>
                <a:ea typeface="Roboto"/>
                <a:cs typeface="Roboto"/>
                <a:sym typeface="Roboto"/>
              </a:rPr>
              <a:t> possible. </a:t>
            </a:r>
            <a:endParaRPr sz="2300" dirty="0">
              <a:latin typeface="Roboto"/>
              <a:ea typeface="Roboto"/>
              <a:cs typeface="Roboto"/>
              <a:sym typeface="Roboto"/>
            </a:endParaRPr>
          </a:p>
        </p:txBody>
      </p:sp>
      <p:sp>
        <p:nvSpPr>
          <p:cNvPr id="55" name="Google Shape;55;p4"/>
          <p:cNvSpPr txBox="1">
            <a:spLocks noGrp="1"/>
          </p:cNvSpPr>
          <p:nvPr>
            <p:ph type="body" idx="7"/>
          </p:nvPr>
        </p:nvSpPr>
        <p:spPr>
          <a:xfrm>
            <a:off x="33760850" y="18265448"/>
            <a:ext cx="9190800" cy="1066562"/>
          </a:xfrm>
          <a:prstGeom prst="rect">
            <a:avLst/>
          </a:prstGeom>
          <a:solidFill>
            <a:srgbClr val="DCA10D"/>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Clr>
                <a:schemeClr val="lt1"/>
              </a:buClr>
              <a:buSzPts val="4000"/>
              <a:buNone/>
            </a:pPr>
            <a:r>
              <a:rPr lang="en-US" sz="4200" dirty="0"/>
              <a:t>References</a:t>
            </a:r>
            <a:endParaRPr sz="4200" dirty="0"/>
          </a:p>
        </p:txBody>
      </p:sp>
      <p:sp>
        <p:nvSpPr>
          <p:cNvPr id="56" name="Google Shape;56;p4"/>
          <p:cNvSpPr txBox="1">
            <a:spLocks noGrp="1"/>
          </p:cNvSpPr>
          <p:nvPr>
            <p:ph type="body" idx="7"/>
          </p:nvPr>
        </p:nvSpPr>
        <p:spPr>
          <a:xfrm>
            <a:off x="33760850" y="24349961"/>
            <a:ext cx="9190800" cy="847500"/>
          </a:xfrm>
          <a:prstGeom prst="rect">
            <a:avLst/>
          </a:prstGeom>
          <a:solidFill>
            <a:srgbClr val="DCA10D"/>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Clr>
                <a:schemeClr val="lt1"/>
              </a:buClr>
              <a:buSzPts val="4000"/>
              <a:buNone/>
            </a:pPr>
            <a:r>
              <a:rPr lang="en-US" sz="4100"/>
              <a:t>Acknowledgements</a:t>
            </a:r>
            <a:endParaRPr sz="4100"/>
          </a:p>
        </p:txBody>
      </p:sp>
      <p:sp>
        <p:nvSpPr>
          <p:cNvPr id="57" name="Google Shape;57;p4"/>
          <p:cNvSpPr txBox="1">
            <a:spLocks noGrp="1"/>
          </p:cNvSpPr>
          <p:nvPr>
            <p:ph type="body" idx="3"/>
          </p:nvPr>
        </p:nvSpPr>
        <p:spPr>
          <a:xfrm>
            <a:off x="11964200" y="6573875"/>
            <a:ext cx="9986700" cy="1528700"/>
          </a:xfrm>
          <a:prstGeom prst="rect">
            <a:avLst/>
          </a:prstGeom>
          <a:solidFill>
            <a:srgbClr val="DCA10D"/>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Clr>
                <a:schemeClr val="lt1"/>
              </a:buClr>
              <a:buSzPts val="4000"/>
              <a:buNone/>
            </a:pPr>
            <a:r>
              <a:rPr lang="en-US" sz="4200" dirty="0"/>
              <a:t>Expanding </a:t>
            </a:r>
            <a:r>
              <a:rPr lang="en-US" sz="4200" dirty="0" err="1"/>
              <a:t>Outbreak.info</a:t>
            </a:r>
            <a:endParaRPr sz="4200" dirty="0"/>
          </a:p>
        </p:txBody>
      </p:sp>
      <p:sp>
        <p:nvSpPr>
          <p:cNvPr id="58" name="Google Shape;58;p4"/>
          <p:cNvSpPr txBox="1">
            <a:spLocks noGrp="1"/>
          </p:cNvSpPr>
          <p:nvPr>
            <p:ph type="body" idx="3"/>
          </p:nvPr>
        </p:nvSpPr>
        <p:spPr>
          <a:xfrm>
            <a:off x="22890848" y="6573875"/>
            <a:ext cx="9478910" cy="1470826"/>
          </a:xfrm>
          <a:prstGeom prst="rect">
            <a:avLst/>
          </a:prstGeom>
          <a:solidFill>
            <a:srgbClr val="DCA10D"/>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Clr>
                <a:schemeClr val="lt1"/>
              </a:buClr>
              <a:buSzPts val="4000"/>
              <a:buNone/>
            </a:pPr>
            <a:r>
              <a:rPr lang="en-US" sz="4200"/>
              <a:t>Results</a:t>
            </a:r>
            <a:endParaRPr sz="4200"/>
          </a:p>
        </p:txBody>
      </p:sp>
      <p:pic>
        <p:nvPicPr>
          <p:cNvPr id="59" name="Google Shape;59;p4"/>
          <p:cNvPicPr preferRelativeResize="0"/>
          <p:nvPr/>
        </p:nvPicPr>
        <p:blipFill rotWithShape="1">
          <a:blip r:embed="rId9">
            <a:alphaModFix/>
          </a:blip>
          <a:srcRect l="288" r="288"/>
          <a:stretch/>
        </p:blipFill>
        <p:spPr>
          <a:xfrm>
            <a:off x="22890848" y="13331301"/>
            <a:ext cx="9190800" cy="6255800"/>
          </a:xfrm>
          <a:prstGeom prst="rect">
            <a:avLst/>
          </a:prstGeom>
          <a:noFill/>
          <a:ln w="19050" cap="flat" cmpd="sng">
            <a:solidFill>
              <a:schemeClr val="dk1"/>
            </a:solidFill>
            <a:prstDash val="solid"/>
            <a:round/>
            <a:headEnd type="none" w="sm" len="sm"/>
            <a:tailEnd type="none" w="sm" len="sm"/>
          </a:ln>
        </p:spPr>
      </p:pic>
      <p:pic>
        <p:nvPicPr>
          <p:cNvPr id="60" name="Google Shape;60;p4"/>
          <p:cNvPicPr preferRelativeResize="0"/>
          <p:nvPr/>
        </p:nvPicPr>
        <p:blipFill rotWithShape="1">
          <a:blip r:embed="rId10">
            <a:alphaModFix/>
          </a:blip>
          <a:srcRect t="534" b="544"/>
          <a:stretch/>
        </p:blipFill>
        <p:spPr>
          <a:xfrm>
            <a:off x="22890850" y="20432961"/>
            <a:ext cx="9190798" cy="6451602"/>
          </a:xfrm>
          <a:prstGeom prst="rect">
            <a:avLst/>
          </a:prstGeom>
          <a:noFill/>
          <a:ln w="19050" cap="flat" cmpd="sng">
            <a:solidFill>
              <a:schemeClr val="dk1"/>
            </a:solidFill>
            <a:prstDash val="solid"/>
            <a:round/>
            <a:headEnd type="none" w="sm" len="sm"/>
            <a:tailEnd type="none" w="sm" len="sm"/>
          </a:ln>
        </p:spPr>
      </p:pic>
      <p:sp>
        <p:nvSpPr>
          <p:cNvPr id="61" name="Google Shape;61;p4"/>
          <p:cNvSpPr txBox="1">
            <a:spLocks noGrp="1"/>
          </p:cNvSpPr>
          <p:nvPr>
            <p:ph type="body" idx="20"/>
          </p:nvPr>
        </p:nvSpPr>
        <p:spPr>
          <a:xfrm>
            <a:off x="24421598" y="26884563"/>
            <a:ext cx="6129300" cy="502200"/>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457200" tIns="457200" rIns="457200" bIns="457200" anchor="ctr" anchorCtr="0">
            <a:noAutofit/>
          </a:bodyPr>
          <a:lstStyle/>
          <a:p>
            <a:pPr marL="0" lvl="0" indent="0" algn="l" rtl="0">
              <a:lnSpc>
                <a:spcPct val="115000"/>
              </a:lnSpc>
              <a:spcBef>
                <a:spcPts val="0"/>
              </a:spcBef>
              <a:spcAft>
                <a:spcPts val="0"/>
              </a:spcAft>
              <a:buClr>
                <a:schemeClr val="dk1"/>
              </a:buClr>
              <a:buSzPts val="1100"/>
              <a:buFont typeface="Arial"/>
              <a:buNone/>
            </a:pPr>
            <a:r>
              <a:rPr lang="en-US" sz="1300" b="1" dirty="0"/>
              <a:t>Fig. 2:</a:t>
            </a:r>
            <a:r>
              <a:rPr lang="en-US" sz="1300" dirty="0"/>
              <a:t> Number of confirmed cases in New York based on a 7-day rolling count since June 6, 2022.</a:t>
            </a:r>
            <a:endParaRPr sz="1300" b="1" dirty="0"/>
          </a:p>
        </p:txBody>
      </p:sp>
      <p:sp>
        <p:nvSpPr>
          <p:cNvPr id="62" name="Google Shape;62;p4"/>
          <p:cNvSpPr txBox="1">
            <a:spLocks noGrp="1"/>
          </p:cNvSpPr>
          <p:nvPr>
            <p:ph type="body" idx="7"/>
          </p:nvPr>
        </p:nvSpPr>
        <p:spPr>
          <a:xfrm>
            <a:off x="31186450" y="27772675"/>
            <a:ext cx="5750700" cy="847500"/>
          </a:xfrm>
          <a:prstGeom prst="rect">
            <a:avLst/>
          </a:prstGeom>
          <a:solidFill>
            <a:srgbClr val="DCA10D"/>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Clr>
                <a:schemeClr val="lt1"/>
              </a:buClr>
              <a:buSzPts val="4000"/>
              <a:buNone/>
            </a:pPr>
            <a:r>
              <a:rPr lang="en-US" sz="4100"/>
              <a:t>About Me</a:t>
            </a:r>
            <a:endParaRPr sz="4100"/>
          </a:p>
        </p:txBody>
      </p:sp>
      <p:sp>
        <p:nvSpPr>
          <p:cNvPr id="63" name="Google Shape;63;p4"/>
          <p:cNvSpPr txBox="1"/>
          <p:nvPr/>
        </p:nvSpPr>
        <p:spPr>
          <a:xfrm>
            <a:off x="31186450" y="28620175"/>
            <a:ext cx="5750700" cy="3237900"/>
          </a:xfrm>
          <a:prstGeom prst="rect">
            <a:avLst/>
          </a:prstGeom>
          <a:solidFill>
            <a:srgbClr val="A9BD58"/>
          </a:solidFill>
          <a:ln w="19050" cap="flat" cmpd="sng">
            <a:solidFill>
              <a:schemeClr val="dk1"/>
            </a:solidFill>
            <a:prstDash val="solid"/>
            <a:round/>
            <a:headEnd type="none" w="sm" len="sm"/>
            <a:tailEnd type="none" w="sm" len="sm"/>
          </a:ln>
        </p:spPr>
        <p:txBody>
          <a:bodyPr spcFirstLastPara="1" wrap="square" lIns="182875" tIns="182875" rIns="274300" bIns="91425" anchor="t" anchorCtr="0">
            <a:normAutofit/>
          </a:bodyPr>
          <a:lstStyle/>
          <a:p>
            <a:pPr marL="0" lvl="0" indent="0" algn="l" rtl="0">
              <a:spcBef>
                <a:spcPts val="0"/>
              </a:spcBef>
              <a:spcAft>
                <a:spcPts val="0"/>
              </a:spcAft>
              <a:buNone/>
            </a:pPr>
            <a:r>
              <a:rPr lang="en-US" sz="2300" dirty="0">
                <a:latin typeface="Roboto" panose="02000000000000000000" pitchFamily="2" charset="0"/>
                <a:ea typeface="Roboto" panose="02000000000000000000" pitchFamily="2" charset="0"/>
              </a:rPr>
              <a:t>    My name is Sarah Randall, and I’m a rising 3rd year undergraduate student from Biola University in La Mirada, CA. I’m majoring in Biology with a minor in Chemistry, and my future goal is to study cellular treatments and technologies for the medical field. </a:t>
            </a:r>
            <a:endParaRPr sz="2300" dirty="0">
              <a:latin typeface="Roboto" panose="02000000000000000000" pitchFamily="2" charset="0"/>
              <a:ea typeface="Roboto" panose="02000000000000000000" pitchFamily="2" charset="0"/>
            </a:endParaRPr>
          </a:p>
        </p:txBody>
      </p:sp>
      <p:pic>
        <p:nvPicPr>
          <p:cNvPr id="64" name="Google Shape;64;p4"/>
          <p:cNvPicPr preferRelativeResize="0"/>
          <p:nvPr/>
        </p:nvPicPr>
        <p:blipFill rotWithShape="1">
          <a:blip r:embed="rId11">
            <a:alphaModFix/>
          </a:blip>
          <a:srcRect/>
          <a:stretch/>
        </p:blipFill>
        <p:spPr>
          <a:xfrm>
            <a:off x="37317569" y="27772675"/>
            <a:ext cx="6129434" cy="408527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1121</Words>
  <Application>Microsoft Macintosh PowerPoint</Application>
  <PresentationFormat>Custom</PresentationFormat>
  <Paragraphs>73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Arial</vt:lpstr>
      <vt:lpstr>Roboto</vt:lpstr>
      <vt:lpstr>Office Theme</vt:lpstr>
      <vt:lpstr>Implementing Outbreak.info API in Python will Expand Access to SARS-CoV-2 Data and Allow for Flexible Data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Implementing Outbreak.info API in Python will Expand Access to SARS-CoV-2 Data and Allow for Flexible Data Analysis</dc:title>
  <cp:lastModifiedBy>Sarah Randall</cp:lastModifiedBy>
  <cp:revision>15</cp:revision>
  <dcterms:modified xsi:type="dcterms:W3CDTF">2022-08-08T15:50:44Z</dcterms:modified>
</cp:coreProperties>
</file>